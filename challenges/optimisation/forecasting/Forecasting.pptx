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432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forecasting part of the optimisation challenge, on real data from CLEAR at CERN. The picture is the whole story: the beam charge jitters and drifts shot by shot, sometimes drops out, and the question is whether we can see where it goes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CLEAR users need the charge to stay stable, because what they measure scales with it. Medical irradiation alone is 43 % of CLEAR's experiments. Top: what users would like, a charge that stays inside its tolerance. Bottom: what the machine actually gives, drift over time, shot-to-shot jitter and sudden dropouts. The causes are spread across the machine, the laser, the RF, even the hall temperature, and there is no single knob to turn.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is a roughly 40 m electron linac at CERN, run as a user facility since 2017. A laser hits the photocathode in the RF gun, which produces and accelerates the electrons. The accelerating structures, fed by two klystrons, MKS11 and MKS15, then take the beam to the experimental areas. This challenge looks at the start of the machine, where the charge is made.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closer look at where the charge is made, and where each recorded signal sits. The laser energy is measured twice, in the laser lab and in the accelerator, and a fast photodiode sees each pulse. A mirror sends part of the laser to the virtual-cathode camera, BTV0125, which shows the spot as the cathode sees it. The rest hits the photocathode inside the RF gun, powered by the gun RF. The electrons then pass two solenoids and a corrector, and BCM_GUN measures their charge. The hall temperature and humidity are recorded too. The drawing is schematic, not to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parent challenge asks how to find the best settings. This one adds time: how will the beam behave next? Three steps, which are also the three tiers. First understand the data. Then a virtual diagnostic: the charge of a shot from the other signals of the same shot. Then forecasting: the charge of the next shot, or several shots ahead, from the past only. The long-term goal is to put the forecast inside a controller, which brings us back to optimisation. And if a team gets extremely promising results, we can ask for real beam time to test it on CLEAR.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is not new for us: we presented a first study at MaLAPA in April 2026. The virtual diagnostic worked well. Forecasting was much harder: the best models, TFT, XGBoost and DeepAR, only just beat a plain rolling mean, and the forecasts leaned mostly on the charge's own past. So this is still under development, and that is exactly where you come in. For this challenge we acquired new, custom datasets, and they are shared with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first exercise for the Hard tier: beat the rolling mean. Predicting each shot as the average of the last nine good shots is a very strong baseline for this signal. On the earlier data the best models only just beat it. But this is new data, taken under different conditions, so don't draw conclusions from those numbers: find out for yourselves.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acquired on CLEAR in October 2026, specifically for this challenge. The runs are deliberately diverse and represent real operating conditions: stable operation, runs in wrong conditions such as saturation where you should not expect much correlation, single and multi-bunch beams, and runs where the laser position or intensity was varied. Nothing is labelled. Some runs may not be useful for training a model at all, but every one of them is a good test of your processing.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shot records 23 parameters: the target charge BCM_GUN, the laser seen four ways, the gun RF, klystron 15, three magnets and the hall conditions. The RF signals are in arbitrary units, so compare them within a run, not across runs. And an important point: we do not promise that every signal is useful. Some may be redundant, some may be noise. Saying "this signal tells us nothing", with evidence, is a valid result.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clean benchmark. Each value comes with its own acquisition stamp, and a device may still be showing the previous shot, so synchronisation is real work. Some devices update far less often than once per shot. There are charge dropouts and bad camera frames: flag them, because forecasting needs them later. And the RF waveforms and camera images have to be turned into features first: which part of a waveform, which property of the laser spot, actually matters?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is about understanding. Clean a run, put every reading back on the shot it belongs to, and find out which variables really carry information about the charge. A good check for synchronisation: after alignment, a laser signal's dark shots should line up with the charge dropouts at lag zero. The kickoff notebook, sections 2 and 3, does a first pass, including a noise floor that tells real correlations from chance.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Medium is the virtual diagnostic: infer the charge of a shot from the other signals of that same shot, without using any charge. Compare at least a linear model, a tree ensemble and a neural network, and show what drives each one: does it agree with your correlation study? Then the interesting part: train on one run and test on another, across days or across regimes. How much does it degrade, and which features stop transferring?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is forecasting: predict the charge of future shots from everything known up to now. First beat the rolling mean, which is not trivial. Then beat the notebook's XGBoost on lag features. Go multi-step and find the horizon where your model stops beating the rolling mean. Use at least one model built for sequences. And tell us where the forecast comes from: the charge's own history, or the machine.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fixed in score.py, so every team is scored the same way. The split is chronological: the last 10 % of each run is the test region, and nothing is shuffled. The score is MAE in nanocoulombs. Charge dropouts are not scored, but shots with a device flag are, because their charge is real. Report every scored run, not your best one. For forecasting, also report the gain over the rolling mean. Ranking is the highest tier with a bar beaten, ties broken by that tier's MAE.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kickoff notebook will show you one way through: reducing the raw data to one row per shot, the quality checks and synchronisation, a first correlation study, and baseline models for each tier. Use it as an example, not as a recipe. We strongly encourage you to build your own analysis pipeline: your own cleaning, your own features, any model you can justify. The only thing fixed for everyone is the scoring, so results stay comparable. Everything is in the forecasting folder of the optimisation challenge.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challenge: understand the data, infer the charge, then try to predict the next shot. Questions now, or any time during the week: find me at the Tuesday hands-on session or the Wednesday check-in.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3950"/>
            <a:ext cx="10566400" cy="50165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0400"/>
            <a:ext cx="10566400" cy="41148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Mono" pitchFamily="34" charset="0"/>
                <a:ea typeface="IBM Plex Mono" pitchFamily="34" charset="-122"/>
                <a:cs typeface="IBM Plex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3950"/>
            <a:ext cx="10566400" cy="50165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0400"/>
            <a:ext cx="10566400" cy="41148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Mono" pitchFamily="34" charset="0"/>
                <a:ea typeface="IBM Plex Mono" pitchFamily="34" charset="-122"/>
                <a:cs typeface="IBM Plex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1"/>
        </a:solidFill>
        <a:effectLst/>
      </p:bgPr>
    </p:bg>
    <p:spTree>
      <p:nvGrpSpPr>
        <p:cNvPr id="1" name=""/>
        <p:cNvGrpSpPr/>
        <p:nvPr/>
      </p:nvGrpSpPr>
      <p:grpSpPr>
        <a:xfrm>
          <a:off x="0" y="0"/>
          <a:ext cx="0" cy="0"/>
          <a:chOff x="0" y="0"/>
          <a:chExt cx="0" cy="0"/>
        </a:xfrm>
      </p:grpSpPr>
      <p:pic>
        <p:nvPicPr>
          <p:cNvPr id="2" name="Image 0" descr="On a blue-to-pink gradient panel: a jittering, drifting charge trace over past shots, with one dropout, then a dashed forecast with a widening uncertainty band after the present shot"/>
          <p:cNvPicPr>
            <a:picLocks noChangeAspect="1"/>
          </p:cNvPicPr>
          <p:nvPr/>
        </p:nvPicPr>
        <p:blipFill>
          <a:blip r:embed="rId3"/>
          <a:srcRect t="-10" b="-10"/>
          <a:stretch/>
        </p:blipFill>
        <p:spPr>
          <a:xfrm>
            <a:off x="6477000" y="0"/>
            <a:ext cx="5715000" cy="6858000"/>
          </a:xfrm>
          <a:prstGeom prst="rect">
            <a:avLst/>
          </a:prstGeom>
        </p:spPr>
      </p:pic>
      <p:sp>
        <p:nvSpPr>
          <p:cNvPr id="3" name="Shape 0"/>
          <p:cNvSpPr/>
          <p:nvPr/>
        </p:nvSpPr>
        <p:spPr>
          <a:xfrm>
            <a:off x="812800" y="812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4" name="Text 1"/>
          <p:cNvSpPr/>
          <p:nvPr/>
        </p:nvSpPr>
        <p:spPr>
          <a:xfrm>
            <a:off x="812800" y="939800"/>
            <a:ext cx="5415534" cy="482600"/>
          </a:xfrm>
          <a:prstGeom prst="rect">
            <a:avLst/>
          </a:prstGeom>
          <a:noFill/>
          <a:ln/>
        </p:spPr>
        <p:txBody>
          <a:bodyPr wrap="square" lIns="0" tIns="0" rIns="0" bIns="0" rtlCol="0" anchor="t">
            <a:normAutofit/>
          </a:bodyPr>
          <a:lstStyle/>
          <a:p>
            <a:pPr marL="0" indent="0" algn="l">
              <a:lnSpc>
                <a:spcPts val="1800"/>
              </a:lnSpc>
              <a:buNone/>
            </a:pPr>
            <a:r>
              <a:rPr lang="en-US" sz="1200" kern="0" spc="150" dirty="0">
                <a:solidFill>
                  <a:srgbClr val="6D28D9"/>
                </a:solidFill>
                <a:latin typeface="IBM Plex Mono" pitchFamily="49" charset="0"/>
                <a:ea typeface="IBM Plex Mono" pitchFamily="49" charset="-122"/>
                <a:cs typeface="IBM Plex Mono" pitchFamily="49" charset="-120"/>
              </a:rPr>
              <a:t>AISSAI ACCELERATOR HACKATHON 2026</a:t>
            </a:r>
            <a:endParaRPr lang="en-US" sz="1200" dirty="0"/>
          </a:p>
          <a:p>
            <a:pPr marL="0" indent="0" algn="l">
              <a:lnSpc>
                <a:spcPts val="1800"/>
              </a:lnSpc>
              <a:buNone/>
            </a:pPr>
            <a:r>
              <a:rPr lang="en-US" sz="1200" kern="0" spc="150" dirty="0">
                <a:solidFill>
                  <a:srgbClr val="6D28D9"/>
                </a:solidFill>
                <a:latin typeface="IBM Plex Mono" pitchFamily="49" charset="0"/>
                <a:ea typeface="IBM Plex Mono" pitchFamily="49" charset="-122"/>
                <a:cs typeface="IBM Plex Mono" pitchFamily="49" charset="-120"/>
              </a:rPr>
              <a:t>OPTIMISATION CHALLENGE</a:t>
            </a:r>
            <a:endParaRPr lang="en-US" sz="1200" dirty="0"/>
          </a:p>
        </p:txBody>
      </p:sp>
      <p:sp>
        <p:nvSpPr>
          <p:cNvPr id="5" name="Text 2"/>
          <p:cNvSpPr>
            <a:spLocks noGrp="1"/>
          </p:cNvSpPr>
          <p:nvPr>
            <p:ph type="title"/>
          </p:nvPr>
        </p:nvSpPr>
        <p:spPr>
          <a:xfrm>
            <a:off x="812800" y="2143125"/>
            <a:ext cx="5415534" cy="193040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4213D"/>
                </a:solidFill>
                <a:latin typeface="Space Grotesk" pitchFamily="34" charset="0"/>
                <a:ea typeface="Space Grotesk" pitchFamily="34" charset="-122"/>
                <a:cs typeface="Space Grotesk" pitchFamily="34" charset="-120"/>
              </a:rPr>
              <a:t>Forecasting the </a:t>
            </a:r>
            <a:r>
              <a:rPr lang="en-US" sz="4800" b="1" i="0" dirty="0">
                <a:solidFill>
                  <a:srgbClr val="6D28D9"/>
                </a:solidFill>
                <a:latin typeface="Space Grotesk" pitchFamily="34" charset="0"/>
                <a:ea typeface="Space Grotesk" pitchFamily="34" charset="-122"/>
                <a:cs typeface="Space Grotesk" pitchFamily="34" charset="-120"/>
              </a:rPr>
              <a:t>CLEAR</a:t>
            </a:r>
            <a:r>
              <a:rPr lang="en-US" sz="4800" b="1" i="0" dirty="0">
                <a:solidFill>
                  <a:srgbClr val="14213D"/>
                </a:solidFill>
                <a:latin typeface="Space Grotesk" pitchFamily="34" charset="0"/>
                <a:ea typeface="Space Grotesk" pitchFamily="34" charset="-122"/>
                <a:cs typeface="Space Grotesk" pitchFamily="34" charset="-120"/>
              </a:rPr>
              <a:t> beam charge</a:t>
            </a:r>
            <a:endParaRPr lang="en-US" sz="4800" dirty="0"/>
          </a:p>
        </p:txBody>
      </p:sp>
      <p:sp>
        <p:nvSpPr>
          <p:cNvPr id="6" name="Text 3"/>
          <p:cNvSpPr/>
          <p:nvPr/>
        </p:nvSpPr>
        <p:spPr>
          <a:xfrm>
            <a:off x="812800" y="4225925"/>
            <a:ext cx="5415534"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How will the beam behave next, and can we see it coming?</a:t>
            </a:r>
            <a:endParaRPr lang="en-US" sz="1600" dirty="0"/>
          </a:p>
        </p:txBody>
      </p:sp>
      <p:sp>
        <p:nvSpPr>
          <p:cNvPr id="7" name="Text 4"/>
          <p:cNvSpPr/>
          <p:nvPr/>
        </p:nvSpPr>
        <p:spPr>
          <a:xfrm>
            <a:off x="812800" y="5530850"/>
            <a:ext cx="5415534"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Antonio Gilardi</a:t>
            </a:r>
            <a:endParaRPr lang="en-US" sz="1600" dirty="0"/>
          </a:p>
        </p:txBody>
      </p:sp>
      <p:sp>
        <p:nvSpPr>
          <p:cNvPr id="8" name="Text 5"/>
          <p:cNvSpPr/>
          <p:nvPr/>
        </p:nvSpPr>
        <p:spPr>
          <a:xfrm>
            <a:off x="812800" y="5835650"/>
            <a:ext cx="541553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CERN · CLEAR · antonio.gilardi@cern.ch</a:t>
            </a:r>
            <a:endParaRPr lang="en-US" sz="1200" dirty="0"/>
          </a:p>
        </p:txBody>
      </p:sp>
      <p:sp>
        <p:nvSpPr>
          <p:cNvPr id="9" name="Text 6"/>
          <p:cNvSpPr/>
          <p:nvPr/>
        </p:nvSpPr>
        <p:spPr>
          <a:xfrm>
            <a:off x="6921500" y="5080000"/>
            <a:ext cx="19621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DF7"/>
                </a:solidFill>
                <a:latin typeface="IBM Plex Mono" pitchFamily="49" charset="0"/>
                <a:ea typeface="IBM Plex Mono" pitchFamily="49" charset="-122"/>
                <a:cs typeface="IBM Plex Mono" pitchFamily="49" charset="-120"/>
              </a:rPr>
              <a:t>past shots</a:t>
            </a:r>
            <a:endParaRPr lang="en-US" sz="1200" dirty="0"/>
          </a:p>
        </p:txBody>
      </p:sp>
      <p:sp>
        <p:nvSpPr>
          <p:cNvPr id="10" name="Text 7"/>
          <p:cNvSpPr/>
          <p:nvPr/>
        </p:nvSpPr>
        <p:spPr>
          <a:xfrm>
            <a:off x="8953500" y="4667250"/>
            <a:ext cx="1003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DF7"/>
                </a:solidFill>
                <a:latin typeface="IBM Plex Mono" pitchFamily="49" charset="0"/>
                <a:ea typeface="IBM Plex Mono" pitchFamily="49" charset="-122"/>
                <a:cs typeface="IBM Plex Mono" pitchFamily="49" charset="-120"/>
              </a:rPr>
              <a:t>dropout</a:t>
            </a:r>
            <a:endParaRPr lang="en-US" sz="1200" dirty="0"/>
          </a:p>
        </p:txBody>
      </p:sp>
      <p:sp>
        <p:nvSpPr>
          <p:cNvPr id="11" name="Text 8"/>
          <p:cNvSpPr/>
          <p:nvPr/>
        </p:nvSpPr>
        <p:spPr>
          <a:xfrm>
            <a:off x="10071100" y="2476500"/>
            <a:ext cx="55880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DF7"/>
                </a:solidFill>
                <a:latin typeface="IBM Plex Mono" pitchFamily="49" charset="0"/>
                <a:ea typeface="IBM Plex Mono" pitchFamily="49" charset="-122"/>
                <a:cs typeface="IBM Plex Mono" pitchFamily="49" charset="-120"/>
              </a:rPr>
              <a:t>now</a:t>
            </a:r>
            <a:endParaRPr lang="en-US" sz="1200" dirty="0"/>
          </a:p>
        </p:txBody>
      </p:sp>
      <p:sp>
        <p:nvSpPr>
          <p:cNvPr id="12" name="Text 9"/>
          <p:cNvSpPr/>
          <p:nvPr/>
        </p:nvSpPr>
        <p:spPr>
          <a:xfrm>
            <a:off x="10477500" y="2870200"/>
            <a:ext cx="1066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DF7"/>
                </a:solidFill>
                <a:latin typeface="IBM Plex Mono" pitchFamily="49" charset="0"/>
                <a:ea typeface="IBM Plex Mono" pitchFamily="49" charset="-122"/>
                <a:cs typeface="IBM Plex Mono" pitchFamily="49" charset="-120"/>
              </a:rPr>
              <a:t>forecast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WHY</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Users need a stable charge</a:t>
            </a:r>
            <a:endParaRPr lang="en-US" sz="3600" dirty="0"/>
          </a:p>
        </p:txBody>
      </p:sp>
      <p:sp>
        <p:nvSpPr>
          <p:cNvPr id="5" name="Text 3"/>
          <p:cNvSpPr/>
          <p:nvPr/>
        </p:nvSpPr>
        <p:spPr>
          <a:xfrm>
            <a:off x="812800" y="18796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dose and the detector signal scale with the beam charge.</a:t>
            </a:r>
            <a:endParaRPr lang="en-US" sz="1600" dirty="0"/>
          </a:p>
        </p:txBody>
      </p:sp>
      <p:sp>
        <p:nvSpPr>
          <p:cNvPr id="6" name="Shape 4"/>
          <p:cNvSpPr/>
          <p:nvPr/>
        </p:nvSpPr>
        <p:spPr>
          <a:xfrm>
            <a:off x="815975" y="2416175"/>
            <a:ext cx="5677297" cy="2838450"/>
          </a:xfrm>
          <a:prstGeom prst="roundRect">
            <a:avLst>
              <a:gd name="adj" fmla="val 4362"/>
            </a:avLst>
          </a:prstGeom>
          <a:solidFill>
            <a:srgbClr val="FFFDF8"/>
          </a:solidFill>
          <a:ln w="6350">
            <a:solidFill>
              <a:srgbClr val="E6E0D2"/>
            </a:solidFill>
            <a:prstDash val="solid"/>
          </a:ln>
        </p:spPr>
        <p:txBody>
          <a:bodyPr/>
          <a:lstStyle/>
          <a:p>
            <a:endParaRPr lang="en-US"/>
          </a:p>
        </p:txBody>
      </p:sp>
      <p:sp>
        <p:nvSpPr>
          <p:cNvPr id="7" name="Text 5"/>
          <p:cNvSpPr/>
          <p:nvPr/>
        </p:nvSpPr>
        <p:spPr>
          <a:xfrm>
            <a:off x="1022350" y="2622550"/>
            <a:ext cx="5422483"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F766E"/>
                </a:solidFill>
                <a:latin typeface="IBM Plex Mono" pitchFamily="49" charset="0"/>
                <a:ea typeface="IBM Plex Mono" pitchFamily="49" charset="-122"/>
                <a:cs typeface="IBM Plex Mono" pitchFamily="49" charset="-120"/>
              </a:rPr>
              <a:t>WHAT USERS NEED: A STEADY CHARGE</a:t>
            </a:r>
            <a:endParaRPr lang="en-US" sz="1200" dirty="0"/>
          </a:p>
        </p:txBody>
      </p:sp>
      <p:pic>
        <p:nvPicPr>
          <p:cNvPr id="8" name="Image 0" descr="A charge trace that stays flat inside a narrow tolerance band"/>
          <p:cNvPicPr>
            <a:picLocks noChangeAspect="1"/>
          </p:cNvPicPr>
          <p:nvPr/>
        </p:nvPicPr>
        <p:blipFill>
          <a:blip r:embed="rId3"/>
          <a:srcRect/>
          <a:stretch/>
        </p:blipFill>
        <p:spPr>
          <a:xfrm>
            <a:off x="1022350" y="2908300"/>
            <a:ext cx="5080000" cy="889000"/>
          </a:xfrm>
          <a:prstGeom prst="rect">
            <a:avLst/>
          </a:prstGeom>
        </p:spPr>
      </p:pic>
      <p:sp>
        <p:nvSpPr>
          <p:cNvPr id="9" name="Text 6"/>
          <p:cNvSpPr/>
          <p:nvPr/>
        </p:nvSpPr>
        <p:spPr>
          <a:xfrm>
            <a:off x="1022350" y="3873500"/>
            <a:ext cx="5422483"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2410C"/>
                </a:solidFill>
                <a:latin typeface="IBM Plex Mono" pitchFamily="49" charset="0"/>
                <a:ea typeface="IBM Plex Mono" pitchFamily="49" charset="-122"/>
                <a:cs typeface="IBM Plex Mono" pitchFamily="49" charset="-120"/>
              </a:rPr>
              <a:t>WHAT THE MACHINE GIVES: DRIFT, JITTER, DROPOUTS</a:t>
            </a:r>
            <a:endParaRPr lang="en-US" sz="1200" dirty="0"/>
          </a:p>
        </p:txBody>
      </p:sp>
      <p:pic>
        <p:nvPicPr>
          <p:cNvPr id="10" name="Image 1" descr="A charge trace that drifts out of the same tolerance band, jitters from shot to shot and has a sudden dropout"/>
          <p:cNvPicPr>
            <a:picLocks noChangeAspect="1"/>
          </p:cNvPicPr>
          <p:nvPr/>
        </p:nvPicPr>
        <p:blipFill>
          <a:blip r:embed="rId4"/>
          <a:srcRect/>
          <a:stretch/>
        </p:blipFill>
        <p:spPr>
          <a:xfrm>
            <a:off x="1022350" y="4159250"/>
            <a:ext cx="5080000" cy="889000"/>
          </a:xfrm>
          <a:prstGeom prst="rect">
            <a:avLst/>
          </a:prstGeom>
        </p:spPr>
      </p:pic>
      <p:sp>
        <p:nvSpPr>
          <p:cNvPr id="11" name="Text 7"/>
          <p:cNvSpPr/>
          <p:nvPr/>
        </p:nvSpPr>
        <p:spPr>
          <a:xfrm>
            <a:off x="6801247" y="2413000"/>
            <a:ext cx="4715292"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A6478"/>
                </a:solidFill>
                <a:latin typeface="IBM Plex Mono" pitchFamily="49" charset="0"/>
                <a:ea typeface="IBM Plex Mono" pitchFamily="49" charset="-122"/>
                <a:cs typeface="IBM Plex Mono" pitchFamily="49" charset="-120"/>
              </a:rPr>
              <a:t>THE CAUSES ARE EVERYWHERE</a:t>
            </a:r>
            <a:endParaRPr lang="en-US" sz="1200" dirty="0"/>
          </a:p>
        </p:txBody>
      </p:sp>
      <p:sp>
        <p:nvSpPr>
          <p:cNvPr id="12" name="Shape 8"/>
          <p:cNvSpPr/>
          <p:nvPr/>
        </p:nvSpPr>
        <p:spPr>
          <a:xfrm>
            <a:off x="6801247" y="2711450"/>
            <a:ext cx="4577953" cy="533400"/>
          </a:xfrm>
          <a:prstGeom prst="roundRect">
            <a:avLst>
              <a:gd name="adj" fmla="val 19048"/>
            </a:avLst>
          </a:prstGeom>
          <a:solidFill>
            <a:srgbClr val="FDE2EF"/>
          </a:solidFill>
          <a:ln/>
        </p:spPr>
        <p:txBody>
          <a:bodyPr/>
          <a:lstStyle/>
          <a:p>
            <a:endParaRPr lang="en-US"/>
          </a:p>
        </p:txBody>
      </p:sp>
      <p:sp>
        <p:nvSpPr>
          <p:cNvPr id="13" name="Text 9"/>
          <p:cNvSpPr/>
          <p:nvPr/>
        </p:nvSpPr>
        <p:spPr>
          <a:xfrm>
            <a:off x="6979047" y="2838450"/>
            <a:ext cx="4349024"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E185D"/>
                </a:solidFill>
                <a:latin typeface="IBM Plex Sans" pitchFamily="34" charset="0"/>
                <a:ea typeface="IBM Plex Sans" pitchFamily="34" charset="-122"/>
                <a:cs typeface="IBM Plex Sans" pitchFamily="34" charset="-120"/>
              </a:rPr>
              <a:t>Laser</a:t>
            </a:r>
            <a:r>
              <a:rPr lang="en-US" sz="1600" dirty="0">
                <a:solidFill>
                  <a:srgbClr val="3B4660"/>
                </a:solidFill>
                <a:latin typeface="IBM Plex Sans" pitchFamily="34" charset="0"/>
                <a:ea typeface="IBM Plex Sans" pitchFamily="34" charset="-122"/>
                <a:cs typeface="IBM Plex Sans" pitchFamily="34" charset="-120"/>
              </a:rPr>
              <a:t> · power and cathode spot</a:t>
            </a:r>
            <a:endParaRPr lang="en-US" sz="1600" dirty="0"/>
          </a:p>
        </p:txBody>
      </p:sp>
      <p:sp>
        <p:nvSpPr>
          <p:cNvPr id="14" name="Shape 10"/>
          <p:cNvSpPr/>
          <p:nvPr/>
        </p:nvSpPr>
        <p:spPr>
          <a:xfrm>
            <a:off x="6801247" y="3333750"/>
            <a:ext cx="4577953" cy="533400"/>
          </a:xfrm>
          <a:prstGeom prst="roundRect">
            <a:avLst>
              <a:gd name="adj" fmla="val 19048"/>
            </a:avLst>
          </a:prstGeom>
          <a:solidFill>
            <a:srgbClr val="DBE7FF"/>
          </a:solidFill>
          <a:ln/>
        </p:spPr>
        <p:txBody>
          <a:bodyPr/>
          <a:lstStyle/>
          <a:p>
            <a:endParaRPr lang="en-US"/>
          </a:p>
        </p:txBody>
      </p:sp>
      <p:sp>
        <p:nvSpPr>
          <p:cNvPr id="15" name="Text 11"/>
          <p:cNvSpPr/>
          <p:nvPr/>
        </p:nvSpPr>
        <p:spPr>
          <a:xfrm>
            <a:off x="6979047" y="3460750"/>
            <a:ext cx="4349024"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4ED8"/>
                </a:solidFill>
                <a:latin typeface="IBM Plex Sans" pitchFamily="34" charset="0"/>
                <a:ea typeface="IBM Plex Sans" pitchFamily="34" charset="-122"/>
                <a:cs typeface="IBM Plex Sans" pitchFamily="34" charset="-120"/>
              </a:rPr>
              <a:t>RF</a:t>
            </a:r>
            <a:r>
              <a:rPr lang="en-US" sz="1600" dirty="0">
                <a:solidFill>
                  <a:srgbClr val="3B4660"/>
                </a:solidFill>
                <a:latin typeface="IBM Plex Sans" pitchFamily="34" charset="0"/>
                <a:ea typeface="IBM Plex Sans" pitchFamily="34" charset="-122"/>
                <a:cs typeface="IBM Plex Sans" pitchFamily="34" charset="-120"/>
              </a:rPr>
              <a:t> · amplitudes and phases</a:t>
            </a:r>
            <a:endParaRPr lang="en-US" sz="1600" dirty="0"/>
          </a:p>
        </p:txBody>
      </p:sp>
      <p:sp>
        <p:nvSpPr>
          <p:cNvPr id="16" name="Shape 12"/>
          <p:cNvSpPr/>
          <p:nvPr/>
        </p:nvSpPr>
        <p:spPr>
          <a:xfrm>
            <a:off x="6801247" y="3956050"/>
            <a:ext cx="4577953" cy="533400"/>
          </a:xfrm>
          <a:prstGeom prst="roundRect">
            <a:avLst>
              <a:gd name="adj" fmla="val 19048"/>
            </a:avLst>
          </a:prstGeom>
          <a:solidFill>
            <a:srgbClr val="FDF0D5"/>
          </a:solidFill>
          <a:ln/>
        </p:spPr>
        <p:txBody>
          <a:bodyPr/>
          <a:lstStyle/>
          <a:p>
            <a:endParaRPr lang="en-US"/>
          </a:p>
        </p:txBody>
      </p:sp>
      <p:sp>
        <p:nvSpPr>
          <p:cNvPr id="17" name="Text 13"/>
          <p:cNvSpPr/>
          <p:nvPr/>
        </p:nvSpPr>
        <p:spPr>
          <a:xfrm>
            <a:off x="6979047" y="4083050"/>
            <a:ext cx="4349024"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309"/>
                </a:solidFill>
                <a:latin typeface="IBM Plex Sans" pitchFamily="34" charset="0"/>
                <a:ea typeface="IBM Plex Sans" pitchFamily="34" charset="-122"/>
                <a:cs typeface="IBM Plex Sans" pitchFamily="34" charset="-120"/>
              </a:rPr>
              <a:t>Ambient</a:t>
            </a:r>
            <a:r>
              <a:rPr lang="en-US" sz="1600" dirty="0">
                <a:solidFill>
                  <a:srgbClr val="3B4660"/>
                </a:solidFill>
                <a:latin typeface="IBM Plex Sans" pitchFamily="34" charset="0"/>
                <a:ea typeface="IBM Plex Sans" pitchFamily="34" charset="-122"/>
                <a:cs typeface="IBM Plex Sans" pitchFamily="34" charset="-120"/>
              </a:rPr>
              <a:t> · temperature, humidity</a:t>
            </a:r>
            <a:endParaRPr lang="en-US" sz="1600" dirty="0"/>
          </a:p>
        </p:txBody>
      </p:sp>
      <p:sp>
        <p:nvSpPr>
          <p:cNvPr id="18" name="Shape 14"/>
          <p:cNvSpPr/>
          <p:nvPr/>
        </p:nvSpPr>
        <p:spPr>
          <a:xfrm>
            <a:off x="6801247" y="4578350"/>
            <a:ext cx="2480171" cy="482600"/>
          </a:xfrm>
          <a:prstGeom prst="roundRect">
            <a:avLst>
              <a:gd name="adj" fmla="val 15789"/>
            </a:avLst>
          </a:prstGeom>
          <a:gradFill rotWithShape="1">
            <a:gsLst>
              <a:gs pos="0">
                <a:srgbClr val="1D4ED8"/>
              </a:gs>
              <a:gs pos="100000">
                <a:srgbClr val="6D28D9"/>
              </a:gs>
            </a:gsLst>
            <a:lin ang="0" scaled="0"/>
          </a:gradFill>
          <a:ln/>
        </p:spPr>
        <p:txBody>
          <a:bodyPr/>
          <a:lstStyle/>
          <a:p>
            <a:endParaRPr lang="en-US"/>
          </a:p>
        </p:txBody>
      </p:sp>
      <p:sp>
        <p:nvSpPr>
          <p:cNvPr id="19" name="Text 15"/>
          <p:cNvSpPr/>
          <p:nvPr/>
        </p:nvSpPr>
        <p:spPr>
          <a:xfrm>
            <a:off x="6979047" y="4679950"/>
            <a:ext cx="2188308"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DF7"/>
                </a:solidFill>
                <a:latin typeface="IBM Plex Sans" pitchFamily="34" charset="0"/>
                <a:ea typeface="IBM Plex Sans" pitchFamily="34" charset="-122"/>
                <a:cs typeface="IBM Plex Sans" pitchFamily="34" charset="-120"/>
              </a:rPr>
              <a:t>No single knob fixes it.</a:t>
            </a:r>
            <a:endParaRPr lang="en-US" sz="1600" dirty="0"/>
          </a:p>
        </p:txBody>
      </p:sp>
      <p:sp>
        <p:nvSpPr>
          <p:cNvPr id="20" name="Text 16"/>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21" name="Text 17"/>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THE MACHINE</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CLEAR at a glance</a:t>
            </a:r>
            <a:endParaRPr lang="en-US" sz="3600" dirty="0"/>
          </a:p>
        </p:txBody>
      </p:sp>
      <p:sp>
        <p:nvSpPr>
          <p:cNvPr id="5" name="Shape 3"/>
          <p:cNvSpPr/>
          <p:nvPr/>
        </p:nvSpPr>
        <p:spPr>
          <a:xfrm>
            <a:off x="819150" y="1936750"/>
            <a:ext cx="2254250" cy="1308100"/>
          </a:xfrm>
          <a:prstGeom prst="roundRect">
            <a:avLst>
              <a:gd name="adj" fmla="val 7282"/>
            </a:avLst>
          </a:prstGeom>
          <a:solidFill>
            <a:srgbClr val="FDE2EF"/>
          </a:solidFill>
          <a:ln w="12700">
            <a:solidFill>
              <a:srgbClr val="BE185D"/>
            </a:solidFill>
            <a:prstDash val="solid"/>
          </a:ln>
        </p:spPr>
        <p:txBody>
          <a:bodyPr/>
          <a:lstStyle/>
          <a:p>
            <a:endParaRPr lang="en-US"/>
          </a:p>
        </p:txBody>
      </p:sp>
      <p:sp>
        <p:nvSpPr>
          <p:cNvPr id="6" name="Text 4"/>
          <p:cNvSpPr/>
          <p:nvPr/>
        </p:nvSpPr>
        <p:spPr>
          <a:xfrm>
            <a:off x="1003300" y="2120900"/>
            <a:ext cx="1942529"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E185D"/>
                </a:solidFill>
                <a:latin typeface="Space Grotesk" pitchFamily="34" charset="0"/>
                <a:ea typeface="Space Grotesk" pitchFamily="34" charset="-122"/>
                <a:cs typeface="Space Grotesk" pitchFamily="34" charset="-120"/>
              </a:rPr>
              <a:t>Laser</a:t>
            </a:r>
            <a:endParaRPr lang="en-US" sz="1600" dirty="0"/>
          </a:p>
        </p:txBody>
      </p:sp>
      <p:sp>
        <p:nvSpPr>
          <p:cNvPr id="7" name="Text 5"/>
          <p:cNvSpPr/>
          <p:nvPr/>
        </p:nvSpPr>
        <p:spPr>
          <a:xfrm>
            <a:off x="1003300" y="2413000"/>
            <a:ext cx="1942529"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Hits the photocathode. The camera BTV0125 sees its spot.</a:t>
            </a:r>
            <a:endParaRPr lang="en-US" sz="1200" dirty="0"/>
          </a:p>
        </p:txBody>
      </p:sp>
      <p:pic>
        <p:nvPicPr>
          <p:cNvPr id="8" name="Image 0" descr="arrow-right"/>
          <p:cNvPicPr>
            <a:picLocks noChangeAspect="1"/>
          </p:cNvPicPr>
          <p:nvPr/>
        </p:nvPicPr>
        <p:blipFill>
          <a:blip r:embed="rId3"/>
          <a:srcRect/>
          <a:stretch/>
        </p:blipFill>
        <p:spPr>
          <a:xfrm>
            <a:off x="3181350" y="2514600"/>
            <a:ext cx="304800" cy="152400"/>
          </a:xfrm>
          <a:prstGeom prst="rect">
            <a:avLst/>
          </a:prstGeom>
        </p:spPr>
      </p:pic>
      <p:sp>
        <p:nvSpPr>
          <p:cNvPr id="9" name="Shape 6"/>
          <p:cNvSpPr/>
          <p:nvPr/>
        </p:nvSpPr>
        <p:spPr>
          <a:xfrm>
            <a:off x="3594100" y="1936750"/>
            <a:ext cx="2254250" cy="1308100"/>
          </a:xfrm>
          <a:prstGeom prst="roundRect">
            <a:avLst>
              <a:gd name="adj" fmla="val 7282"/>
            </a:avLst>
          </a:prstGeom>
          <a:solidFill>
            <a:srgbClr val="DBE7FF"/>
          </a:solidFill>
          <a:ln w="12700">
            <a:solidFill>
              <a:srgbClr val="1D4ED8"/>
            </a:solidFill>
            <a:prstDash val="solid"/>
          </a:ln>
        </p:spPr>
        <p:txBody>
          <a:bodyPr/>
          <a:lstStyle/>
          <a:p>
            <a:endParaRPr lang="en-US"/>
          </a:p>
        </p:txBody>
      </p:sp>
      <p:sp>
        <p:nvSpPr>
          <p:cNvPr id="10" name="Text 7"/>
          <p:cNvSpPr/>
          <p:nvPr/>
        </p:nvSpPr>
        <p:spPr>
          <a:xfrm>
            <a:off x="3778250" y="2120900"/>
            <a:ext cx="1942529"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4ED8"/>
                </a:solidFill>
                <a:latin typeface="Space Grotesk" pitchFamily="34" charset="0"/>
                <a:ea typeface="Space Grotesk" pitchFamily="34" charset="-122"/>
                <a:cs typeface="Space Grotesk" pitchFamily="34" charset="-120"/>
              </a:rPr>
              <a:t>RF gun</a:t>
            </a:r>
            <a:endParaRPr lang="en-US" sz="1600" dirty="0"/>
          </a:p>
        </p:txBody>
      </p:sp>
      <p:sp>
        <p:nvSpPr>
          <p:cNvPr id="11" name="Text 8"/>
          <p:cNvSpPr/>
          <p:nvPr/>
        </p:nvSpPr>
        <p:spPr>
          <a:xfrm>
            <a:off x="3778250" y="2413000"/>
            <a:ext cx="1942529"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Accelerates the electrons. BCM_GUN reads the charge.</a:t>
            </a:r>
            <a:endParaRPr lang="en-US" sz="1200" dirty="0"/>
          </a:p>
        </p:txBody>
      </p:sp>
      <p:pic>
        <p:nvPicPr>
          <p:cNvPr id="12" name="Image 1" descr="arrow-right"/>
          <p:cNvPicPr>
            <a:picLocks noChangeAspect="1"/>
          </p:cNvPicPr>
          <p:nvPr/>
        </p:nvPicPr>
        <p:blipFill>
          <a:blip r:embed="rId3"/>
          <a:srcRect/>
          <a:stretch/>
        </p:blipFill>
        <p:spPr>
          <a:xfrm>
            <a:off x="5956300" y="2514600"/>
            <a:ext cx="304800" cy="152400"/>
          </a:xfrm>
          <a:prstGeom prst="rect">
            <a:avLst/>
          </a:prstGeom>
        </p:spPr>
      </p:pic>
      <p:sp>
        <p:nvSpPr>
          <p:cNvPr id="13" name="Shape 9"/>
          <p:cNvSpPr/>
          <p:nvPr/>
        </p:nvSpPr>
        <p:spPr>
          <a:xfrm>
            <a:off x="6365875" y="1933575"/>
            <a:ext cx="2247900" cy="1314450"/>
          </a:xfrm>
          <a:prstGeom prst="roundRect">
            <a:avLst>
              <a:gd name="adj" fmla="val 7488"/>
            </a:avLst>
          </a:prstGeom>
          <a:solidFill>
            <a:srgbClr val="FFFDF8"/>
          </a:solidFill>
          <a:ln w="6350">
            <a:solidFill>
              <a:srgbClr val="E6E0D2"/>
            </a:solidFill>
            <a:prstDash val="solid"/>
          </a:ln>
        </p:spPr>
        <p:txBody>
          <a:bodyPr/>
          <a:lstStyle/>
          <a:p>
            <a:endParaRPr lang="en-US"/>
          </a:p>
        </p:txBody>
      </p:sp>
      <p:sp>
        <p:nvSpPr>
          <p:cNvPr id="14" name="Text 10"/>
          <p:cNvSpPr/>
          <p:nvPr/>
        </p:nvSpPr>
        <p:spPr>
          <a:xfrm>
            <a:off x="6546850" y="2114550"/>
            <a:ext cx="1942529"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Accelerating structures</a:t>
            </a:r>
            <a:endParaRPr lang="en-US" sz="1600" dirty="0"/>
          </a:p>
        </p:txBody>
      </p:sp>
      <p:sp>
        <p:nvSpPr>
          <p:cNvPr id="15" name="Text 11"/>
          <p:cNvSpPr/>
          <p:nvPr/>
        </p:nvSpPr>
        <p:spPr>
          <a:xfrm>
            <a:off x="6546850" y="2647950"/>
            <a:ext cx="1942529"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Fed by 2 klystrons: MKS11, MKS15.</a:t>
            </a:r>
            <a:endParaRPr lang="en-US" sz="1200" dirty="0"/>
          </a:p>
        </p:txBody>
      </p:sp>
      <p:pic>
        <p:nvPicPr>
          <p:cNvPr id="16" name="Image 2" descr="arrow-right"/>
          <p:cNvPicPr>
            <a:picLocks noChangeAspect="1"/>
          </p:cNvPicPr>
          <p:nvPr/>
        </p:nvPicPr>
        <p:blipFill>
          <a:blip r:embed="rId3"/>
          <a:srcRect/>
          <a:stretch/>
        </p:blipFill>
        <p:spPr>
          <a:xfrm>
            <a:off x="8718550" y="2514600"/>
            <a:ext cx="304800" cy="152400"/>
          </a:xfrm>
          <a:prstGeom prst="rect">
            <a:avLst/>
          </a:prstGeom>
        </p:spPr>
      </p:pic>
      <p:sp>
        <p:nvSpPr>
          <p:cNvPr id="17" name="Shape 12"/>
          <p:cNvSpPr/>
          <p:nvPr/>
        </p:nvSpPr>
        <p:spPr>
          <a:xfrm>
            <a:off x="9128125" y="1933575"/>
            <a:ext cx="2247900" cy="1314450"/>
          </a:xfrm>
          <a:prstGeom prst="roundRect">
            <a:avLst>
              <a:gd name="adj" fmla="val 7488"/>
            </a:avLst>
          </a:prstGeom>
          <a:solidFill>
            <a:srgbClr val="FFFDF8"/>
          </a:solidFill>
          <a:ln w="6350">
            <a:solidFill>
              <a:srgbClr val="E6E0D2"/>
            </a:solidFill>
            <a:prstDash val="solid"/>
          </a:ln>
        </p:spPr>
        <p:txBody>
          <a:bodyPr/>
          <a:lstStyle/>
          <a:p>
            <a:endParaRPr lang="en-US"/>
          </a:p>
        </p:txBody>
      </p:sp>
      <p:sp>
        <p:nvSpPr>
          <p:cNvPr id="18" name="Text 13"/>
          <p:cNvSpPr/>
          <p:nvPr/>
        </p:nvSpPr>
        <p:spPr>
          <a:xfrm>
            <a:off x="9309100" y="2114550"/>
            <a:ext cx="206375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Experimental areas</a:t>
            </a:r>
            <a:endParaRPr lang="en-US" sz="1600" dirty="0"/>
          </a:p>
        </p:txBody>
      </p:sp>
      <p:sp>
        <p:nvSpPr>
          <p:cNvPr id="19" name="Text 14"/>
          <p:cNvSpPr/>
          <p:nvPr/>
        </p:nvSpPr>
        <p:spPr>
          <a:xfrm>
            <a:off x="9309100" y="2406650"/>
            <a:ext cx="1942529"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Medical, plasma lens, in-air, VESPER.</a:t>
            </a:r>
            <a:endParaRPr lang="en-US" sz="1200" dirty="0"/>
          </a:p>
        </p:txBody>
      </p:sp>
      <p:sp>
        <p:nvSpPr>
          <p:cNvPr id="20" name="Text 15"/>
          <p:cNvSpPr/>
          <p:nvPr/>
        </p:nvSpPr>
        <p:spPr>
          <a:xfrm>
            <a:off x="812800" y="33782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D28D9"/>
                </a:solidFill>
                <a:latin typeface="IBM Plex Sans" pitchFamily="34" charset="0"/>
                <a:ea typeface="IBM Plex Sans" pitchFamily="34" charset="-122"/>
                <a:cs typeface="IBM Plex Sans" pitchFamily="34" charset="-120"/>
              </a:rPr>
              <a:t>Coloured boxes:</a:t>
            </a:r>
            <a:r>
              <a:rPr lang="en-US" sz="1200" dirty="0">
                <a:solidFill>
                  <a:srgbClr val="6D28D9"/>
                </a:solidFill>
                <a:latin typeface="IBM Plex Sans" pitchFamily="34" charset="0"/>
                <a:ea typeface="IBM Plex Sans" pitchFamily="34" charset="-122"/>
                <a:cs typeface="IBM Plex Sans" pitchFamily="34" charset="-120"/>
              </a:rPr>
              <a:t> where this challenge looks. The charge is made here.</a:t>
            </a:r>
            <a:endParaRPr lang="en-US" sz="1200" dirty="0"/>
          </a:p>
        </p:txBody>
      </p:sp>
      <p:sp>
        <p:nvSpPr>
          <p:cNvPr id="21" name="Shape 16"/>
          <p:cNvSpPr/>
          <p:nvPr/>
        </p:nvSpPr>
        <p:spPr>
          <a:xfrm>
            <a:off x="812800" y="3911600"/>
            <a:ext cx="2489200" cy="0"/>
          </a:xfrm>
          <a:prstGeom prst="line">
            <a:avLst/>
          </a:prstGeom>
          <a:noFill/>
          <a:ln w="38100">
            <a:solidFill>
              <a:srgbClr val="1D4ED8"/>
            </a:solidFill>
            <a:prstDash val="solid"/>
          </a:ln>
        </p:spPr>
        <p:txBody>
          <a:bodyPr/>
          <a:lstStyle/>
          <a:p>
            <a:endParaRPr lang="en-US"/>
          </a:p>
        </p:txBody>
      </p:sp>
      <p:sp>
        <p:nvSpPr>
          <p:cNvPr id="22" name="Text 17"/>
          <p:cNvSpPr/>
          <p:nvPr/>
        </p:nvSpPr>
        <p:spPr>
          <a:xfrm>
            <a:off x="812800" y="4032250"/>
            <a:ext cx="256387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20–220</a:t>
            </a:r>
            <a:endParaRPr lang="en-US" sz="3600" dirty="0"/>
          </a:p>
        </p:txBody>
      </p:sp>
      <p:sp>
        <p:nvSpPr>
          <p:cNvPr id="23" name="Text 18"/>
          <p:cNvSpPr/>
          <p:nvPr/>
        </p:nvSpPr>
        <p:spPr>
          <a:xfrm>
            <a:off x="812800" y="4559300"/>
            <a:ext cx="256387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beam energy, MeV</a:t>
            </a:r>
            <a:endParaRPr lang="en-US" sz="1200" dirty="0"/>
          </a:p>
        </p:txBody>
      </p:sp>
      <p:sp>
        <p:nvSpPr>
          <p:cNvPr id="24" name="Shape 19"/>
          <p:cNvSpPr/>
          <p:nvPr/>
        </p:nvSpPr>
        <p:spPr>
          <a:xfrm>
            <a:off x="3505200" y="3911600"/>
            <a:ext cx="2489200" cy="0"/>
          </a:xfrm>
          <a:prstGeom prst="line">
            <a:avLst/>
          </a:prstGeom>
          <a:noFill/>
          <a:ln w="38100">
            <a:solidFill>
              <a:srgbClr val="6D28D9"/>
            </a:solidFill>
            <a:prstDash val="solid"/>
          </a:ln>
        </p:spPr>
        <p:txBody>
          <a:bodyPr/>
          <a:lstStyle/>
          <a:p>
            <a:endParaRPr lang="en-US"/>
          </a:p>
        </p:txBody>
      </p:sp>
      <p:sp>
        <p:nvSpPr>
          <p:cNvPr id="25" name="Text 20"/>
          <p:cNvSpPr/>
          <p:nvPr/>
        </p:nvSpPr>
        <p:spPr>
          <a:xfrm>
            <a:off x="3505200" y="4032250"/>
            <a:ext cx="256387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6D28D9"/>
                </a:solidFill>
                <a:latin typeface="Space Grotesk" pitchFamily="34" charset="0"/>
                <a:ea typeface="Space Grotesk" pitchFamily="34" charset="-122"/>
                <a:cs typeface="Space Grotesk" pitchFamily="34" charset="-120"/>
              </a:rPr>
              <a:t>0.01–1.5</a:t>
            </a:r>
            <a:endParaRPr lang="en-US" sz="3600" dirty="0"/>
          </a:p>
        </p:txBody>
      </p:sp>
      <p:sp>
        <p:nvSpPr>
          <p:cNvPr id="26" name="Text 21"/>
          <p:cNvSpPr/>
          <p:nvPr/>
        </p:nvSpPr>
        <p:spPr>
          <a:xfrm>
            <a:off x="3505200" y="4559300"/>
            <a:ext cx="256387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bunch charge, nC</a:t>
            </a:r>
            <a:endParaRPr lang="en-US" sz="1200" dirty="0"/>
          </a:p>
        </p:txBody>
      </p:sp>
      <p:sp>
        <p:nvSpPr>
          <p:cNvPr id="27" name="Shape 22"/>
          <p:cNvSpPr/>
          <p:nvPr/>
        </p:nvSpPr>
        <p:spPr>
          <a:xfrm>
            <a:off x="6197600" y="3911600"/>
            <a:ext cx="2489200" cy="0"/>
          </a:xfrm>
          <a:prstGeom prst="line">
            <a:avLst/>
          </a:prstGeom>
          <a:noFill/>
          <a:ln w="38100">
            <a:solidFill>
              <a:srgbClr val="BE185D"/>
            </a:solidFill>
            <a:prstDash val="solid"/>
          </a:ln>
        </p:spPr>
        <p:txBody>
          <a:bodyPr/>
          <a:lstStyle/>
          <a:p>
            <a:endParaRPr lang="en-US"/>
          </a:p>
        </p:txBody>
      </p:sp>
      <p:sp>
        <p:nvSpPr>
          <p:cNvPr id="28" name="Text 23"/>
          <p:cNvSpPr/>
          <p:nvPr/>
        </p:nvSpPr>
        <p:spPr>
          <a:xfrm>
            <a:off x="6197600" y="4032250"/>
            <a:ext cx="256387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E185D"/>
                </a:solidFill>
                <a:latin typeface="Space Grotesk" pitchFamily="34" charset="0"/>
                <a:ea typeface="Space Grotesk" pitchFamily="34" charset="-122"/>
                <a:cs typeface="Space Grotesk" pitchFamily="34" charset="-120"/>
              </a:rPr>
              <a:t>0.833–10</a:t>
            </a:r>
            <a:endParaRPr lang="en-US" sz="3600" dirty="0"/>
          </a:p>
        </p:txBody>
      </p:sp>
      <p:sp>
        <p:nvSpPr>
          <p:cNvPr id="29" name="Text 24"/>
          <p:cNvSpPr/>
          <p:nvPr/>
        </p:nvSpPr>
        <p:spPr>
          <a:xfrm>
            <a:off x="6197600" y="4559300"/>
            <a:ext cx="256387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repetition rate, Hz</a:t>
            </a:r>
            <a:endParaRPr lang="en-US" sz="1200" dirty="0"/>
          </a:p>
        </p:txBody>
      </p:sp>
      <p:sp>
        <p:nvSpPr>
          <p:cNvPr id="30" name="Shape 25"/>
          <p:cNvSpPr/>
          <p:nvPr/>
        </p:nvSpPr>
        <p:spPr>
          <a:xfrm>
            <a:off x="8890000" y="3911600"/>
            <a:ext cx="2489200" cy="0"/>
          </a:xfrm>
          <a:prstGeom prst="line">
            <a:avLst/>
          </a:prstGeom>
          <a:noFill/>
          <a:ln w="38100">
            <a:solidFill>
              <a:srgbClr val="C2410C"/>
            </a:solidFill>
            <a:prstDash val="solid"/>
          </a:ln>
        </p:spPr>
        <p:txBody>
          <a:bodyPr/>
          <a:lstStyle/>
          <a:p>
            <a:endParaRPr lang="en-US"/>
          </a:p>
        </p:txBody>
      </p:sp>
      <p:sp>
        <p:nvSpPr>
          <p:cNvPr id="31" name="Text 26"/>
          <p:cNvSpPr/>
          <p:nvPr/>
        </p:nvSpPr>
        <p:spPr>
          <a:xfrm>
            <a:off x="8890000" y="4032250"/>
            <a:ext cx="256387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C2410C"/>
                </a:solidFill>
                <a:latin typeface="Space Grotesk" pitchFamily="34" charset="0"/>
                <a:ea typeface="Space Grotesk" pitchFamily="34" charset="-122"/>
                <a:cs typeface="Space Grotesk" pitchFamily="34" charset="-120"/>
              </a:rPr>
              <a:t>1–150</a:t>
            </a:r>
            <a:endParaRPr lang="en-US" sz="3600" dirty="0"/>
          </a:p>
        </p:txBody>
      </p:sp>
      <p:sp>
        <p:nvSpPr>
          <p:cNvPr id="32" name="Text 27"/>
          <p:cNvSpPr/>
          <p:nvPr/>
        </p:nvSpPr>
        <p:spPr>
          <a:xfrm>
            <a:off x="8890000" y="4559300"/>
            <a:ext cx="256387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bunches per train</a:t>
            </a:r>
            <a:endParaRPr lang="en-US" sz="1200" dirty="0"/>
          </a:p>
        </p:txBody>
      </p:sp>
      <p:sp>
        <p:nvSpPr>
          <p:cNvPr id="33" name="Text 28"/>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34" name="Text 29"/>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pic>
        <p:nvPicPr>
          <p:cNvPr id="3" name="Image 0" descr="Schematic of the CLEAR injector. Laser path along the top: the laser lab, the transport line, then a mirror that sends part of the beam to the virtual-cathode camera and the rest down into the RF gun. Along the bottom: gun RF feeding the RF gun, and the electron beam leaving the gun through two solenoids, a corrector and the BCM_GUN charge monitor towards the linac. The hall temperature and humidity sensors are shown apart."/>
          <p:cNvPicPr>
            <a:picLocks noChangeAspect="1"/>
          </p:cNvPicPr>
          <p:nvPr/>
        </p:nvPicPr>
        <p:blipFill>
          <a:blip r:embed="rId3"/>
          <a:srcRect t="-17" b="-17"/>
          <a:stretch/>
        </p:blipFill>
        <p:spPr>
          <a:xfrm>
            <a:off x="812800" y="1905000"/>
            <a:ext cx="10566400" cy="3556000"/>
          </a:xfrm>
          <a:prstGeom prst="rect">
            <a:avLst/>
          </a:prstGeom>
        </p:spPr>
      </p:pic>
      <p:sp>
        <p:nvSpPr>
          <p:cNvPr id="4"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THE INJECTOR</a:t>
            </a:r>
            <a:endParaRPr lang="en-US" sz="1200" dirty="0"/>
          </a:p>
        </p:txBody>
      </p:sp>
      <p:sp>
        <p:nvSpPr>
          <p:cNvPr id="5"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Where the charge is made</a:t>
            </a:r>
            <a:endParaRPr lang="en-US" sz="3600" dirty="0"/>
          </a:p>
        </p:txBody>
      </p:sp>
      <p:sp>
        <p:nvSpPr>
          <p:cNvPr id="6" name="Text 3"/>
          <p:cNvSpPr/>
          <p:nvPr/>
        </p:nvSpPr>
        <p:spPr>
          <a:xfrm>
            <a:off x="784225" y="2247900"/>
            <a:ext cx="196215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BE185D"/>
                </a:solidFill>
                <a:latin typeface="IBM Plex Sans" pitchFamily="34" charset="0"/>
                <a:ea typeface="IBM Plex Sans" pitchFamily="34" charset="-122"/>
                <a:cs typeface="IBM Plex Sans" pitchFamily="34" charset="-120"/>
              </a:rPr>
              <a:t>Laser lab</a:t>
            </a:r>
            <a:endParaRPr lang="en-US" sz="1600" dirty="0"/>
          </a:p>
        </p:txBody>
      </p:sp>
      <p:sp>
        <p:nvSpPr>
          <p:cNvPr id="7" name="Text 4"/>
          <p:cNvSpPr/>
          <p:nvPr/>
        </p:nvSpPr>
        <p:spPr>
          <a:xfrm>
            <a:off x="784225" y="2514600"/>
            <a:ext cx="196215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lab_laser_power</a:t>
            </a:r>
            <a:endParaRPr lang="en-US" sz="1200" dirty="0"/>
          </a:p>
        </p:txBody>
      </p:sp>
      <p:sp>
        <p:nvSpPr>
          <p:cNvPr id="8" name="Text 5"/>
          <p:cNvSpPr/>
          <p:nvPr/>
        </p:nvSpPr>
        <p:spPr>
          <a:xfrm>
            <a:off x="3383915" y="2139950"/>
            <a:ext cx="222377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BE185D"/>
                </a:solidFill>
                <a:latin typeface="IBM Plex Sans" pitchFamily="34" charset="0"/>
                <a:ea typeface="IBM Plex Sans" pitchFamily="34" charset="-122"/>
                <a:cs typeface="IBM Plex Sans" pitchFamily="34" charset="-120"/>
              </a:rPr>
              <a:t>Transport line</a:t>
            </a:r>
            <a:endParaRPr lang="en-US" sz="1600" dirty="0"/>
          </a:p>
        </p:txBody>
      </p:sp>
      <p:sp>
        <p:nvSpPr>
          <p:cNvPr id="9" name="Text 6"/>
          <p:cNvSpPr/>
          <p:nvPr/>
        </p:nvSpPr>
        <p:spPr>
          <a:xfrm>
            <a:off x="3383915" y="2406650"/>
            <a:ext cx="2223770" cy="44450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clex_laser_power</a:t>
            </a:r>
            <a:endParaRPr lang="en-US" sz="1200" dirty="0"/>
          </a:p>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laser_scope</a:t>
            </a:r>
            <a:endParaRPr lang="en-US" sz="1200" dirty="0"/>
          </a:p>
        </p:txBody>
      </p:sp>
      <p:sp>
        <p:nvSpPr>
          <p:cNvPr id="10" name="Text 7"/>
          <p:cNvSpPr/>
          <p:nvPr/>
        </p:nvSpPr>
        <p:spPr>
          <a:xfrm>
            <a:off x="7319010" y="2247900"/>
            <a:ext cx="235458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BE185D"/>
                </a:solidFill>
                <a:latin typeface="IBM Plex Sans" pitchFamily="34" charset="0"/>
                <a:ea typeface="IBM Plex Sans" pitchFamily="34" charset="-122"/>
                <a:cs typeface="IBM Plex Sans" pitchFamily="34" charset="-120"/>
              </a:rPr>
              <a:t>Virtual cathode</a:t>
            </a:r>
            <a:endParaRPr lang="en-US" sz="1600" dirty="0"/>
          </a:p>
        </p:txBody>
      </p:sp>
      <p:sp>
        <p:nvSpPr>
          <p:cNvPr id="11" name="Text 8"/>
          <p:cNvSpPr/>
          <p:nvPr/>
        </p:nvSpPr>
        <p:spPr>
          <a:xfrm>
            <a:off x="7319010" y="2514600"/>
            <a:ext cx="235458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BTV0125 camera</a:t>
            </a:r>
            <a:endParaRPr lang="en-US" sz="1200" dirty="0"/>
          </a:p>
        </p:txBody>
      </p:sp>
      <p:sp>
        <p:nvSpPr>
          <p:cNvPr id="12" name="Text 9"/>
          <p:cNvSpPr/>
          <p:nvPr/>
        </p:nvSpPr>
        <p:spPr>
          <a:xfrm>
            <a:off x="3197225" y="3962400"/>
            <a:ext cx="196215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6D28D9"/>
                </a:solidFill>
                <a:latin typeface="IBM Plex Sans" pitchFamily="34" charset="0"/>
                <a:ea typeface="IBM Plex Sans" pitchFamily="34" charset="-122"/>
                <a:cs typeface="IBM Plex Sans" pitchFamily="34" charset="-120"/>
              </a:rPr>
              <a:t>Gun RF</a:t>
            </a:r>
            <a:endParaRPr lang="en-US" sz="1600" dirty="0"/>
          </a:p>
        </p:txBody>
      </p:sp>
      <p:sp>
        <p:nvSpPr>
          <p:cNvPr id="13" name="Text 10"/>
          <p:cNvSpPr/>
          <p:nvPr/>
        </p:nvSpPr>
        <p:spPr>
          <a:xfrm>
            <a:off x="3197225" y="4229100"/>
            <a:ext cx="196215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PGIA PGRA PGLA PGIP</a:t>
            </a:r>
            <a:endParaRPr lang="en-US" sz="1200" dirty="0"/>
          </a:p>
        </p:txBody>
      </p:sp>
      <p:sp>
        <p:nvSpPr>
          <p:cNvPr id="14" name="Text 11"/>
          <p:cNvSpPr/>
          <p:nvPr/>
        </p:nvSpPr>
        <p:spPr>
          <a:xfrm>
            <a:off x="5612130" y="3962400"/>
            <a:ext cx="1831340" cy="30480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D4ED8"/>
                </a:solidFill>
                <a:latin typeface="IBM Plex Sans" pitchFamily="34" charset="0"/>
                <a:ea typeface="IBM Plex Sans" pitchFamily="34" charset="-122"/>
                <a:cs typeface="IBM Plex Sans" pitchFamily="34" charset="-120"/>
              </a:rPr>
              <a:t>RF gun</a:t>
            </a:r>
            <a:endParaRPr lang="en-US" sz="1600" dirty="0"/>
          </a:p>
        </p:txBody>
      </p:sp>
      <p:sp>
        <p:nvSpPr>
          <p:cNvPr id="15" name="Text 12"/>
          <p:cNvSpPr/>
          <p:nvPr/>
        </p:nvSpPr>
        <p:spPr>
          <a:xfrm>
            <a:off x="5612130" y="4229100"/>
            <a:ext cx="183134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with the photocathode</a:t>
            </a:r>
            <a:endParaRPr lang="en-US" sz="1200" dirty="0"/>
          </a:p>
        </p:txBody>
      </p:sp>
      <p:sp>
        <p:nvSpPr>
          <p:cNvPr id="16" name="Text 13"/>
          <p:cNvSpPr/>
          <p:nvPr/>
        </p:nvSpPr>
        <p:spPr>
          <a:xfrm>
            <a:off x="7340600" y="4521200"/>
            <a:ext cx="144780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766E"/>
                </a:solidFill>
                <a:latin typeface="IBM Plex Sans" pitchFamily="34" charset="0"/>
                <a:ea typeface="IBM Plex Sans" pitchFamily="34" charset="-122"/>
                <a:cs typeface="IBM Plex Sans" pitchFamily="34" charset="-120"/>
              </a:rPr>
              <a:t>Solenoids</a:t>
            </a:r>
            <a:endParaRPr lang="en-US" sz="1200" dirty="0"/>
          </a:p>
        </p:txBody>
      </p:sp>
      <p:sp>
        <p:nvSpPr>
          <p:cNvPr id="17" name="Text 14"/>
          <p:cNvSpPr/>
          <p:nvPr/>
        </p:nvSpPr>
        <p:spPr>
          <a:xfrm>
            <a:off x="7226300" y="4737100"/>
            <a:ext cx="167640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SNH_110 SNI_120</a:t>
            </a:r>
            <a:endParaRPr lang="en-US" sz="1200" dirty="0"/>
          </a:p>
        </p:txBody>
      </p:sp>
      <p:sp>
        <p:nvSpPr>
          <p:cNvPr id="18" name="Text 15"/>
          <p:cNvSpPr/>
          <p:nvPr/>
        </p:nvSpPr>
        <p:spPr>
          <a:xfrm>
            <a:off x="8674100" y="4521200"/>
            <a:ext cx="93980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766E"/>
                </a:solidFill>
                <a:latin typeface="IBM Plex Sans" pitchFamily="34" charset="0"/>
                <a:ea typeface="IBM Plex Sans" pitchFamily="34" charset="-122"/>
                <a:cs typeface="IBM Plex Sans" pitchFamily="34" charset="-120"/>
              </a:rPr>
              <a:t>Corrector</a:t>
            </a:r>
            <a:endParaRPr lang="en-US" sz="1200" dirty="0"/>
          </a:p>
        </p:txBody>
      </p:sp>
      <p:sp>
        <p:nvSpPr>
          <p:cNvPr id="19" name="Text 16"/>
          <p:cNvSpPr/>
          <p:nvPr/>
        </p:nvSpPr>
        <p:spPr>
          <a:xfrm>
            <a:off x="8674100" y="4737100"/>
            <a:ext cx="93980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DHG0130</a:t>
            </a:r>
            <a:endParaRPr lang="en-US" sz="1200" dirty="0"/>
          </a:p>
        </p:txBody>
      </p:sp>
      <p:sp>
        <p:nvSpPr>
          <p:cNvPr id="20" name="Text 17"/>
          <p:cNvSpPr/>
          <p:nvPr/>
        </p:nvSpPr>
        <p:spPr>
          <a:xfrm>
            <a:off x="9677400" y="4521200"/>
            <a:ext cx="106680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Charge</a:t>
            </a:r>
            <a:endParaRPr lang="en-US" sz="1200" dirty="0"/>
          </a:p>
        </p:txBody>
      </p:sp>
      <p:sp>
        <p:nvSpPr>
          <p:cNvPr id="21" name="Text 18"/>
          <p:cNvSpPr/>
          <p:nvPr/>
        </p:nvSpPr>
        <p:spPr>
          <a:xfrm>
            <a:off x="9677400" y="4737100"/>
            <a:ext cx="106680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IBM Plex Mono" pitchFamily="49" charset="0"/>
                <a:ea typeface="IBM Plex Mono" pitchFamily="49" charset="-122"/>
                <a:cs typeface="IBM Plex Mono" pitchFamily="49" charset="-120"/>
              </a:rPr>
              <a:t>BCM_GUN</a:t>
            </a:r>
            <a:endParaRPr lang="en-US" sz="1200" dirty="0"/>
          </a:p>
        </p:txBody>
      </p:sp>
      <p:sp>
        <p:nvSpPr>
          <p:cNvPr id="22" name="Text 19"/>
          <p:cNvSpPr/>
          <p:nvPr/>
        </p:nvSpPr>
        <p:spPr>
          <a:xfrm>
            <a:off x="10185400" y="3695700"/>
            <a:ext cx="1193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410C"/>
                </a:solidFill>
                <a:latin typeface="IBM Plex Sans" pitchFamily="34" charset="0"/>
                <a:ea typeface="IBM Plex Sans" pitchFamily="34" charset="-122"/>
                <a:cs typeface="IBM Plex Sans" pitchFamily="34" charset="-120"/>
              </a:rPr>
              <a:t>to the linac</a:t>
            </a:r>
            <a:endParaRPr lang="en-US" sz="1200" dirty="0"/>
          </a:p>
        </p:txBody>
      </p:sp>
      <p:sp>
        <p:nvSpPr>
          <p:cNvPr id="23" name="Text 20"/>
          <p:cNvSpPr/>
          <p:nvPr/>
        </p:nvSpPr>
        <p:spPr>
          <a:xfrm>
            <a:off x="772795" y="5035550"/>
            <a:ext cx="274701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45309"/>
                </a:solidFill>
                <a:latin typeface="IBM Plex Mono" pitchFamily="49" charset="0"/>
                <a:ea typeface="IBM Plex Mono" pitchFamily="49" charset="-122"/>
                <a:cs typeface="IBM Plex Mono" pitchFamily="49" charset="-120"/>
              </a:rPr>
              <a:t>Hall: TEMP1–4, HUMID1–4</a:t>
            </a:r>
            <a:endParaRPr lang="en-US" sz="1200" dirty="0"/>
          </a:p>
        </p:txBody>
      </p:sp>
      <p:sp>
        <p:nvSpPr>
          <p:cNvPr id="24" name="Text 21"/>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25"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THE CHALLENGE</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Three steps, one question</a:t>
            </a:r>
            <a:endParaRPr lang="en-US" sz="3600" dirty="0"/>
          </a:p>
        </p:txBody>
      </p:sp>
      <p:sp>
        <p:nvSpPr>
          <p:cNvPr id="5" name="Shape 3"/>
          <p:cNvSpPr/>
          <p:nvPr/>
        </p:nvSpPr>
        <p:spPr>
          <a:xfrm>
            <a:off x="812800" y="1930400"/>
            <a:ext cx="3386634" cy="2159000"/>
          </a:xfrm>
          <a:prstGeom prst="roundRect">
            <a:avLst>
              <a:gd name="adj" fmla="val 4706"/>
            </a:avLst>
          </a:prstGeom>
          <a:solidFill>
            <a:srgbClr val="D5F3EE"/>
          </a:solidFill>
          <a:ln/>
        </p:spPr>
        <p:txBody>
          <a:bodyPr/>
          <a:lstStyle/>
          <a:p>
            <a:endParaRPr lang="en-US"/>
          </a:p>
        </p:txBody>
      </p:sp>
      <p:sp>
        <p:nvSpPr>
          <p:cNvPr id="6" name="Shape 4"/>
          <p:cNvSpPr/>
          <p:nvPr/>
        </p:nvSpPr>
        <p:spPr>
          <a:xfrm>
            <a:off x="812800" y="1930400"/>
            <a:ext cx="3386634" cy="2159000"/>
          </a:xfrm>
          <a:custGeom>
            <a:avLst/>
            <a:gdLst/>
            <a:ahLst/>
            <a:cxnLst/>
            <a:rect l="l" t="t" r="r" b="b"/>
            <a:pathLst>
              <a:path w="3386634" h="215900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0F766E"/>
          </a:solidFill>
          <a:ln/>
        </p:spPr>
        <p:txBody>
          <a:bodyPr/>
          <a:lstStyle/>
          <a:p>
            <a:endParaRPr lang="en-US"/>
          </a:p>
        </p:txBody>
      </p:sp>
      <p:sp>
        <p:nvSpPr>
          <p:cNvPr id="7" name="Text 5"/>
          <p:cNvSpPr/>
          <p:nvPr/>
        </p:nvSpPr>
        <p:spPr>
          <a:xfrm>
            <a:off x="1016000" y="2184400"/>
            <a:ext cx="3069641"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F766E"/>
                </a:solidFill>
                <a:latin typeface="IBM Plex Mono" pitchFamily="49" charset="0"/>
                <a:ea typeface="IBM Plex Mono" pitchFamily="49" charset="-122"/>
                <a:cs typeface="IBM Plex Mono" pitchFamily="49" charset="-120"/>
              </a:rPr>
              <a:t>STEP 1 · EASY</a:t>
            </a:r>
            <a:endParaRPr lang="en-US" sz="1200" dirty="0"/>
          </a:p>
        </p:txBody>
      </p:sp>
      <p:sp>
        <p:nvSpPr>
          <p:cNvPr id="8" name="Text 6"/>
          <p:cNvSpPr/>
          <p:nvPr/>
        </p:nvSpPr>
        <p:spPr>
          <a:xfrm>
            <a:off x="1016000" y="2495550"/>
            <a:ext cx="3069641" cy="34290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Understand</a:t>
            </a:r>
            <a:endParaRPr lang="en-US" sz="2200" dirty="0"/>
          </a:p>
        </p:txBody>
      </p:sp>
      <p:sp>
        <p:nvSpPr>
          <p:cNvPr id="9" name="Shape 7"/>
          <p:cNvSpPr/>
          <p:nvPr/>
        </p:nvSpPr>
        <p:spPr>
          <a:xfrm>
            <a:off x="1016000" y="2914650"/>
            <a:ext cx="2123480" cy="311150"/>
          </a:xfrm>
          <a:prstGeom prst="roundRect">
            <a:avLst>
              <a:gd name="adj" fmla="val 16327"/>
            </a:avLst>
          </a:prstGeom>
          <a:solidFill>
            <a:srgbClr val="FFFDF8"/>
          </a:solidFill>
          <a:ln/>
        </p:spPr>
        <p:txBody>
          <a:bodyPr/>
          <a:lstStyle/>
          <a:p>
            <a:endParaRPr lang="en-US"/>
          </a:p>
        </p:txBody>
      </p:sp>
      <p:sp>
        <p:nvSpPr>
          <p:cNvPr id="10" name="Text 8"/>
          <p:cNvSpPr/>
          <p:nvPr/>
        </p:nvSpPr>
        <p:spPr>
          <a:xfrm>
            <a:off x="1117600" y="2965450"/>
            <a:ext cx="19778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raw run → clean table</a:t>
            </a:r>
            <a:endParaRPr lang="en-US" sz="1200" dirty="0"/>
          </a:p>
        </p:txBody>
      </p:sp>
      <p:sp>
        <p:nvSpPr>
          <p:cNvPr id="11" name="Text 9"/>
          <p:cNvSpPr/>
          <p:nvPr/>
        </p:nvSpPr>
        <p:spPr>
          <a:xfrm>
            <a:off x="1016000" y="3327400"/>
            <a:ext cx="3069641"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Clean, synchronise, rank every signal.</a:t>
            </a:r>
            <a:endParaRPr lang="en-US" sz="1600" dirty="0"/>
          </a:p>
        </p:txBody>
      </p:sp>
      <p:sp>
        <p:nvSpPr>
          <p:cNvPr id="12" name="Shape 10"/>
          <p:cNvSpPr/>
          <p:nvPr/>
        </p:nvSpPr>
        <p:spPr>
          <a:xfrm>
            <a:off x="4402634" y="1930400"/>
            <a:ext cx="3386634" cy="2159000"/>
          </a:xfrm>
          <a:prstGeom prst="roundRect">
            <a:avLst>
              <a:gd name="adj" fmla="val 4706"/>
            </a:avLst>
          </a:prstGeom>
          <a:solidFill>
            <a:srgbClr val="DBE7FF"/>
          </a:solidFill>
          <a:ln/>
        </p:spPr>
        <p:txBody>
          <a:bodyPr/>
          <a:lstStyle/>
          <a:p>
            <a:endParaRPr lang="en-US"/>
          </a:p>
        </p:txBody>
      </p:sp>
      <p:sp>
        <p:nvSpPr>
          <p:cNvPr id="13" name="Shape 11"/>
          <p:cNvSpPr/>
          <p:nvPr/>
        </p:nvSpPr>
        <p:spPr>
          <a:xfrm>
            <a:off x="4402634" y="1930400"/>
            <a:ext cx="3386634" cy="2159000"/>
          </a:xfrm>
          <a:custGeom>
            <a:avLst/>
            <a:gdLst/>
            <a:ahLst/>
            <a:cxnLst/>
            <a:rect l="l" t="t" r="r" b="b"/>
            <a:pathLst>
              <a:path w="3386634" h="215900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1D4ED8"/>
          </a:solidFill>
          <a:ln/>
        </p:spPr>
        <p:txBody>
          <a:bodyPr/>
          <a:lstStyle/>
          <a:p>
            <a:endParaRPr lang="en-US"/>
          </a:p>
        </p:txBody>
      </p:sp>
      <p:sp>
        <p:nvSpPr>
          <p:cNvPr id="14" name="Text 12"/>
          <p:cNvSpPr/>
          <p:nvPr/>
        </p:nvSpPr>
        <p:spPr>
          <a:xfrm>
            <a:off x="4605834" y="2184400"/>
            <a:ext cx="3069641"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D4ED8"/>
                </a:solidFill>
                <a:latin typeface="IBM Plex Mono" pitchFamily="49" charset="0"/>
                <a:ea typeface="IBM Plex Mono" pitchFamily="49" charset="-122"/>
                <a:cs typeface="IBM Plex Mono" pitchFamily="49" charset="-120"/>
              </a:rPr>
              <a:t>STEP 2 · MEDIUM</a:t>
            </a:r>
            <a:endParaRPr lang="en-US" sz="1200" dirty="0"/>
          </a:p>
        </p:txBody>
      </p:sp>
      <p:sp>
        <p:nvSpPr>
          <p:cNvPr id="15" name="Text 13"/>
          <p:cNvSpPr/>
          <p:nvPr/>
        </p:nvSpPr>
        <p:spPr>
          <a:xfrm>
            <a:off x="4605834" y="2495550"/>
            <a:ext cx="3069641" cy="34290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Virtual diagnostic</a:t>
            </a:r>
            <a:endParaRPr lang="en-US" sz="2200" dirty="0"/>
          </a:p>
        </p:txBody>
      </p:sp>
      <p:sp>
        <p:nvSpPr>
          <p:cNvPr id="16" name="Shape 14"/>
          <p:cNvSpPr/>
          <p:nvPr/>
        </p:nvSpPr>
        <p:spPr>
          <a:xfrm>
            <a:off x="4605834" y="2914650"/>
            <a:ext cx="1483420" cy="311150"/>
          </a:xfrm>
          <a:prstGeom prst="roundRect">
            <a:avLst>
              <a:gd name="adj" fmla="val 16327"/>
            </a:avLst>
          </a:prstGeom>
          <a:solidFill>
            <a:srgbClr val="FFFDF8"/>
          </a:solidFill>
          <a:ln/>
        </p:spPr>
        <p:txBody>
          <a:bodyPr/>
          <a:lstStyle/>
          <a:p>
            <a:endParaRPr lang="en-US"/>
          </a:p>
        </p:txBody>
      </p:sp>
      <p:sp>
        <p:nvSpPr>
          <p:cNvPr id="17" name="Text 15"/>
          <p:cNvSpPr/>
          <p:nvPr/>
        </p:nvSpPr>
        <p:spPr>
          <a:xfrm>
            <a:off x="4707434" y="2965450"/>
            <a:ext cx="133102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Q[t] = f(X[t])</a:t>
            </a:r>
            <a:endParaRPr lang="en-US" sz="1200" dirty="0"/>
          </a:p>
        </p:txBody>
      </p:sp>
      <p:sp>
        <p:nvSpPr>
          <p:cNvPr id="18" name="Text 16"/>
          <p:cNvSpPr/>
          <p:nvPr/>
        </p:nvSpPr>
        <p:spPr>
          <a:xfrm>
            <a:off x="4605834" y="3327400"/>
            <a:ext cx="3069641"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This shot's charge from this shot's signals.</a:t>
            </a:r>
            <a:endParaRPr lang="en-US" sz="1600" dirty="0"/>
          </a:p>
        </p:txBody>
      </p:sp>
      <p:sp>
        <p:nvSpPr>
          <p:cNvPr id="19" name="Shape 17"/>
          <p:cNvSpPr/>
          <p:nvPr/>
        </p:nvSpPr>
        <p:spPr>
          <a:xfrm>
            <a:off x="7992467" y="1930400"/>
            <a:ext cx="3386634" cy="2159000"/>
          </a:xfrm>
          <a:prstGeom prst="roundRect">
            <a:avLst>
              <a:gd name="adj" fmla="val 4706"/>
            </a:avLst>
          </a:prstGeom>
          <a:solidFill>
            <a:srgbClr val="FDE2EF"/>
          </a:solidFill>
          <a:ln/>
        </p:spPr>
        <p:txBody>
          <a:bodyPr/>
          <a:lstStyle/>
          <a:p>
            <a:endParaRPr lang="en-US"/>
          </a:p>
        </p:txBody>
      </p:sp>
      <p:sp>
        <p:nvSpPr>
          <p:cNvPr id="20" name="Shape 18"/>
          <p:cNvSpPr/>
          <p:nvPr/>
        </p:nvSpPr>
        <p:spPr>
          <a:xfrm>
            <a:off x="7992467" y="1930400"/>
            <a:ext cx="3386634" cy="2159000"/>
          </a:xfrm>
          <a:custGeom>
            <a:avLst/>
            <a:gdLst/>
            <a:ahLst/>
            <a:cxnLst/>
            <a:rect l="l" t="t" r="r" b="b"/>
            <a:pathLst>
              <a:path w="3386634" h="2159000">
                <a:moveTo>
                  <a:pt x="0" y="101600"/>
                </a:moveTo>
                <a:lnTo>
                  <a:pt x="0" y="101600"/>
                </a:lnTo>
                <a:arcTo wR="101600" hR="101600" stAng="10800000" swAng="5400000"/>
                <a:lnTo>
                  <a:pt x="3285034" y="0"/>
                </a:lnTo>
                <a:arcTo wR="101600" hR="101600" stAng="16200000" swAng="5400000"/>
                <a:lnTo>
                  <a:pt x="3386634" y="101600"/>
                </a:lnTo>
                <a:arcTo wR="101600" hR="50800" stAng="0" swAng="-5400000"/>
                <a:lnTo>
                  <a:pt x="101600" y="50800"/>
                </a:lnTo>
                <a:arcTo wR="101600" hR="50800" stAng="16200000" swAng="-5400000"/>
                <a:close/>
              </a:path>
            </a:pathLst>
          </a:custGeom>
          <a:solidFill>
            <a:srgbClr val="BE185D"/>
          </a:solidFill>
          <a:ln/>
        </p:spPr>
        <p:txBody>
          <a:bodyPr/>
          <a:lstStyle/>
          <a:p>
            <a:endParaRPr lang="en-US"/>
          </a:p>
        </p:txBody>
      </p:sp>
      <p:sp>
        <p:nvSpPr>
          <p:cNvPr id="21" name="Text 19"/>
          <p:cNvSpPr/>
          <p:nvPr/>
        </p:nvSpPr>
        <p:spPr>
          <a:xfrm>
            <a:off x="8195667" y="2184400"/>
            <a:ext cx="3069641"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E185D"/>
                </a:solidFill>
                <a:latin typeface="IBM Plex Mono" pitchFamily="49" charset="0"/>
                <a:ea typeface="IBM Plex Mono" pitchFamily="49" charset="-122"/>
                <a:cs typeface="IBM Plex Mono" pitchFamily="49" charset="-120"/>
              </a:rPr>
              <a:t>STEP 3 · HARD</a:t>
            </a:r>
            <a:endParaRPr lang="en-US" sz="1200" dirty="0"/>
          </a:p>
        </p:txBody>
      </p:sp>
      <p:sp>
        <p:nvSpPr>
          <p:cNvPr id="22" name="Text 20"/>
          <p:cNvSpPr/>
          <p:nvPr/>
        </p:nvSpPr>
        <p:spPr>
          <a:xfrm>
            <a:off x="8195667" y="2495550"/>
            <a:ext cx="3069641" cy="34290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Forecast</a:t>
            </a:r>
            <a:endParaRPr lang="en-US" sz="2200" dirty="0"/>
          </a:p>
        </p:txBody>
      </p:sp>
      <p:sp>
        <p:nvSpPr>
          <p:cNvPr id="23" name="Shape 21"/>
          <p:cNvSpPr/>
          <p:nvPr/>
        </p:nvSpPr>
        <p:spPr>
          <a:xfrm>
            <a:off x="8195667" y="2914650"/>
            <a:ext cx="2763639" cy="311150"/>
          </a:xfrm>
          <a:prstGeom prst="roundRect">
            <a:avLst>
              <a:gd name="adj" fmla="val 16327"/>
            </a:avLst>
          </a:prstGeom>
          <a:solidFill>
            <a:srgbClr val="FFFDF8"/>
          </a:solidFill>
          <a:ln/>
        </p:spPr>
        <p:txBody>
          <a:bodyPr/>
          <a:lstStyle/>
          <a:p>
            <a:endParaRPr lang="en-US"/>
          </a:p>
        </p:txBody>
      </p:sp>
      <p:sp>
        <p:nvSpPr>
          <p:cNvPr id="24" name="Text 22"/>
          <p:cNvSpPr/>
          <p:nvPr/>
        </p:nvSpPr>
        <p:spPr>
          <a:xfrm>
            <a:off x="8297267" y="2965450"/>
            <a:ext cx="26372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Q[t+1…t+H] = f(X[≤t], Q[≤t])</a:t>
            </a:r>
            <a:endParaRPr lang="en-US" sz="1200" dirty="0"/>
          </a:p>
        </p:txBody>
      </p:sp>
      <p:sp>
        <p:nvSpPr>
          <p:cNvPr id="25" name="Text 23"/>
          <p:cNvSpPr/>
          <p:nvPr/>
        </p:nvSpPr>
        <p:spPr>
          <a:xfrm>
            <a:off x="8195667" y="3327400"/>
            <a:ext cx="3069641"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The next shots' charge, from the past.</a:t>
            </a:r>
            <a:endParaRPr lang="en-US" sz="1600" dirty="0"/>
          </a:p>
        </p:txBody>
      </p:sp>
      <p:sp>
        <p:nvSpPr>
          <p:cNvPr id="26" name="Shape 24"/>
          <p:cNvSpPr/>
          <p:nvPr/>
        </p:nvSpPr>
        <p:spPr>
          <a:xfrm>
            <a:off x="812800" y="4394200"/>
            <a:ext cx="10566400" cy="965200"/>
          </a:xfrm>
          <a:prstGeom prst="roundRect">
            <a:avLst>
              <a:gd name="adj" fmla="val 10526"/>
            </a:avLst>
          </a:prstGeom>
          <a:gradFill rotWithShape="1">
            <a:gsLst>
              <a:gs pos="0">
                <a:srgbClr val="1D4ED8"/>
              </a:gs>
              <a:gs pos="55000">
                <a:srgbClr val="6D28D9"/>
              </a:gs>
              <a:gs pos="100000">
                <a:srgbClr val="BE185D"/>
              </a:gs>
            </a:gsLst>
            <a:lin ang="0" scaled="0"/>
          </a:gradFill>
          <a:ln/>
        </p:spPr>
        <p:txBody>
          <a:bodyPr/>
          <a:lstStyle/>
          <a:p>
            <a:endParaRPr lang="en-US"/>
          </a:p>
        </p:txBody>
      </p:sp>
      <p:sp>
        <p:nvSpPr>
          <p:cNvPr id="27" name="Text 25"/>
          <p:cNvSpPr/>
          <p:nvPr/>
        </p:nvSpPr>
        <p:spPr>
          <a:xfrm>
            <a:off x="1066800" y="4772025"/>
            <a:ext cx="166122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DE68A"/>
                </a:solidFill>
                <a:latin typeface="IBM Plex Mono" pitchFamily="49" charset="0"/>
                <a:ea typeface="IBM Plex Mono" pitchFamily="49" charset="-122"/>
                <a:cs typeface="IBM Plex Mono" pitchFamily="49" charset="-120"/>
              </a:rPr>
              <a:t>THEN, OPTIONAL</a:t>
            </a:r>
            <a:endParaRPr lang="en-US" sz="1200" dirty="0"/>
          </a:p>
        </p:txBody>
      </p:sp>
      <p:sp>
        <p:nvSpPr>
          <p:cNvPr id="28" name="Text 26"/>
          <p:cNvSpPr/>
          <p:nvPr/>
        </p:nvSpPr>
        <p:spPr>
          <a:xfrm>
            <a:off x="2728020" y="4597400"/>
            <a:ext cx="8649096"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DF7"/>
                </a:solidFill>
                <a:latin typeface="IBM Plex Sans" pitchFamily="34" charset="0"/>
                <a:ea typeface="IBM Plex Sans" pitchFamily="34" charset="-122"/>
                <a:cs typeface="IBM Plex Sans" pitchFamily="34" charset="-120"/>
              </a:rPr>
              <a:t>Close the loop with a controller g(x) on laser power or RF phase. </a:t>
            </a:r>
            <a:r>
              <a:rPr lang="en-US" sz="1600" b="1" dirty="0">
                <a:solidFill>
                  <a:srgbClr val="FFFDF7"/>
                </a:solidFill>
                <a:latin typeface="IBM Plex Sans" pitchFamily="34" charset="0"/>
                <a:ea typeface="IBM Plex Sans" pitchFamily="34" charset="-122"/>
                <a:cs typeface="IBM Plex Sans" pitchFamily="34" charset="-120"/>
              </a:rPr>
              <a:t>Extremely promising results can earn real beam time on CLEAR.</a:t>
            </a:r>
            <a:endParaRPr lang="en-US" sz="1600" dirty="0"/>
          </a:p>
        </p:txBody>
      </p:sp>
      <p:sp>
        <p:nvSpPr>
          <p:cNvPr id="29" name="Text 27"/>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30" name="Text 28"/>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Studied, but still under development</a:t>
            </a:r>
            <a:endParaRPr lang="en-US" sz="3600" dirty="0"/>
          </a:p>
        </p:txBody>
      </p:sp>
      <p:sp>
        <p:nvSpPr>
          <p:cNvPr id="5" name="Text 3"/>
          <p:cNvSpPr/>
          <p:nvPr/>
        </p:nvSpPr>
        <p:spPr>
          <a:xfrm>
            <a:off x="812800" y="187960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A first study showed the approach works. It is not finished: forecasting is still being developed.</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5700"/>
          <a:ext cx="10553700" cy="1756964"/>
        </p:xfrm>
        <a:graphic>
          <a:graphicData uri="http://schemas.openxmlformats.org/drawingml/2006/table">
            <a:tbl>
              <a:tblPr/>
              <a:tblGrid>
                <a:gridCol w="379933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439241">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Task</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BDB6CB"/>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DB6CB"/>
                      </a:solidFill>
                      <a:prstDash val="solid"/>
                      <a:round/>
                      <a:headEnd type="none" w="med" len="med"/>
                      <a:tailEnd type="none" w="med" len="med"/>
                    </a:lnB>
                    <a:solidFill>
                      <a:srgbClr val="EDE4FF"/>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Best MAE, pC</a:t>
                      </a:r>
                      <a:endParaRPr lang="en-US" sz="1600" dirty="0">
                        <a:latin typeface="IBM Plex Sans" charset="0"/>
                        <a:ea typeface="IBM Plex Sans" charset="0"/>
                        <a:cs typeface="IBM Plex Sans" charset="0"/>
                      </a:endParaRPr>
                    </a:p>
                  </a:txBody>
                  <a:tcPr marL="71120" marR="71120" marT="71120" marB="71120">
                    <a:lnL w="12700" cap="flat" cmpd="sng" algn="ctr">
                      <a:solidFill>
                        <a:srgbClr val="BDB6CB"/>
                      </a:solidFill>
                      <a:prstDash val="solid"/>
                      <a:round/>
                      <a:headEnd type="none" w="med" len="med"/>
                      <a:tailEnd type="none" w="med" len="med"/>
                    </a:lnL>
                    <a:lnR w="12700" cap="flat" cmpd="sng" algn="ctr">
                      <a:solidFill>
                        <a:srgbClr val="BDB6CB"/>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DB6CB"/>
                      </a:solidFill>
                      <a:prstDash val="solid"/>
                      <a:round/>
                      <a:headEnd type="none" w="med" len="med"/>
                      <a:tailEnd type="none" w="med" len="med"/>
                    </a:lnB>
                    <a:solidFill>
                      <a:srgbClr val="EDE4FF"/>
                    </a:solidFill>
                  </a:tcPr>
                </a:tc>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Note</a:t>
                      </a:r>
                      <a:endParaRPr lang="en-US" sz="1600" dirty="0">
                        <a:latin typeface="IBM Plex Sans" charset="0"/>
                        <a:ea typeface="IBM Plex Sans" charset="0"/>
                        <a:cs typeface="IBM Plex Sans" charset="0"/>
                      </a:endParaRPr>
                    </a:p>
                  </a:txBody>
                  <a:tcPr marL="71120" marR="71120" marT="71120" marB="71120">
                    <a:lnL w="12700" cap="flat" cmpd="sng" algn="ctr">
                      <a:solidFill>
                        <a:srgbClr val="BDB6CB"/>
                      </a:solidFill>
                      <a:prstDash val="solid"/>
                      <a:round/>
                      <a:headEnd type="none" w="med" len="med"/>
                      <a:tailEnd type="none" w="med" len="med"/>
                    </a:lnL>
                    <a:lnR w="12700" cap="flat" cmpd="sng" algn="ctr">
                      <a:solidFill>
                        <a:srgbClr val="BDB6CB"/>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BDB6CB"/>
                      </a:solidFill>
                      <a:prstDash val="solid"/>
                      <a:round/>
                      <a:headEnd type="none" w="med" len="med"/>
                      <a:tailEnd type="none" w="med" len="med"/>
                    </a:lnB>
                    <a:solidFill>
                      <a:srgbClr val="EDE4FF"/>
                    </a:solidFill>
                  </a:tcPr>
                </a:tc>
                <a:extLst>
                  <a:ext uri="{0D108BD9-81ED-4DB2-BD59-A6C34878D82A}">
                    <a16:rowId xmlns:a16="http://schemas.microsoft.com/office/drawing/2014/main" val="10000"/>
                  </a:ext>
                </a:extLst>
              </a:tr>
              <a:tr h="439241">
                <a:tc>
                  <a:txBody>
                    <a:bodyPr/>
                    <a:lstStyle/>
                    <a:p>
                      <a:pPr marL="0" indent="0">
                        <a:lnSpc>
                          <a:spcPts val="2240"/>
                        </a:lnSpc>
                        <a:buNone/>
                      </a:pPr>
                      <a:r>
                        <a:rPr lang="en-US" sz="1600" dirty="0">
                          <a:solidFill>
                            <a:srgbClr val="1D4ED8"/>
                          </a:solidFill>
                          <a:latin typeface="IBM Plex Sans" pitchFamily="34" charset="0"/>
                          <a:ea typeface="IBM Plex Sans" pitchFamily="34" charset="-122"/>
                          <a:cs typeface="IBM Plex Sans" pitchFamily="34" charset="-120"/>
                        </a:rPr>
                        <a:t>Virtual diagnostic</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DB6CB"/>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gn="r">
                        <a:lnSpc>
                          <a:spcPts val="2240"/>
                        </a:lnSpc>
                        <a:buNone/>
                      </a:pPr>
                      <a:r>
                        <a:rPr lang="en-US" sz="1600" dirty="0">
                          <a:solidFill>
                            <a:srgbClr val="3B4660"/>
                          </a:solidFill>
                          <a:latin typeface="IBM Plex Sans" pitchFamily="34" charset="0"/>
                          <a:ea typeface="IBM Plex Sans" pitchFamily="34" charset="-122"/>
                          <a:cs typeface="IBM Plex Sans" pitchFamily="34" charset="-120"/>
                        </a:rPr>
                        <a:t>3.37 – 6.56</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DB6CB"/>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3B4660"/>
                          </a:solidFill>
                          <a:latin typeface="IBM Plex Sans" pitchFamily="34" charset="0"/>
                          <a:ea typeface="IBM Plex Sans" pitchFamily="34" charset="-122"/>
                          <a:cs typeface="IBM Plex Sans" pitchFamily="34" charset="-120"/>
                        </a:rPr>
                        <a:t>R² 0.56 – 0.84</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BDB6CB"/>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1"/>
                  </a:ext>
                </a:extLst>
              </a:tr>
              <a:tr h="439241">
                <a:tc>
                  <a:txBody>
                    <a:bodyPr/>
                    <a:lstStyle/>
                    <a:p>
                      <a:pPr marL="0" indent="0">
                        <a:lnSpc>
                          <a:spcPts val="2240"/>
                        </a:lnSpc>
                        <a:buNone/>
                      </a:pPr>
                      <a:r>
                        <a:rPr lang="en-US" sz="1600" dirty="0">
                          <a:solidFill>
                            <a:srgbClr val="BE185D"/>
                          </a:solidFill>
                          <a:latin typeface="IBM Plex Sans" pitchFamily="34" charset="0"/>
                          <a:ea typeface="IBM Plex Sans" pitchFamily="34" charset="-122"/>
                          <a:cs typeface="IBM Plex Sans" pitchFamily="34" charset="-120"/>
                        </a:rPr>
                        <a:t>One-step forecast</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gn="r">
                        <a:lnSpc>
                          <a:spcPts val="2240"/>
                        </a:lnSpc>
                        <a:buNone/>
                      </a:pPr>
                      <a:r>
                        <a:rPr lang="en-US" sz="1600" dirty="0">
                          <a:solidFill>
                            <a:srgbClr val="3B4660"/>
                          </a:solidFill>
                          <a:latin typeface="IBM Plex Sans" pitchFamily="34" charset="0"/>
                          <a:ea typeface="IBM Plex Sans" pitchFamily="34" charset="-122"/>
                          <a:cs typeface="IBM Plex Sans" pitchFamily="34" charset="-120"/>
                        </a:rPr>
                        <a:t>4.12 – 7.47</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3B4660"/>
                          </a:solidFill>
                          <a:latin typeface="IBM Plex Sans" pitchFamily="34" charset="0"/>
                          <a:ea typeface="IBM Plex Sans" pitchFamily="34" charset="-122"/>
                          <a:cs typeface="IBM Plex Sans" pitchFamily="34" charset="-120"/>
                        </a:rPr>
                        <a:t>best: TFT, XGBoost, DeepAR</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2"/>
                  </a:ext>
                </a:extLst>
              </a:tr>
              <a:tr h="439241">
                <a:tc>
                  <a:txBody>
                    <a:bodyPr/>
                    <a:lstStyle/>
                    <a:p>
                      <a:pPr marL="0" indent="0">
                        <a:lnSpc>
                          <a:spcPts val="2240"/>
                        </a:lnSpc>
                        <a:buNone/>
                      </a:pPr>
                      <a:r>
                        <a:rPr lang="en-US" sz="1600" dirty="0">
                          <a:solidFill>
                            <a:srgbClr val="5A6478"/>
                          </a:solidFill>
                          <a:latin typeface="IBM Plex Sans" pitchFamily="34" charset="0"/>
                          <a:ea typeface="IBM Plex Sans" pitchFamily="34" charset="-122"/>
                          <a:cs typeface="IBM Plex Sans" pitchFamily="34" charset="-120"/>
                        </a:rPr>
                        <a:t>Rolling mean, no model</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gn="r">
                        <a:lnSpc>
                          <a:spcPts val="2240"/>
                        </a:lnSpc>
                        <a:buNone/>
                      </a:pPr>
                      <a:r>
                        <a:rPr lang="en-US" sz="1600" dirty="0">
                          <a:solidFill>
                            <a:srgbClr val="3B4660"/>
                          </a:solidFill>
                          <a:latin typeface="IBM Plex Sans" pitchFamily="34" charset="0"/>
                          <a:ea typeface="IBM Plex Sans" pitchFamily="34" charset="-122"/>
                          <a:cs typeface="IBM Plex Sans" pitchFamily="34" charset="-120"/>
                        </a:rPr>
                        <a:t>4.28 – 7.73</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tc>
                  <a:txBody>
                    <a:bodyPr/>
                    <a:lstStyle/>
                    <a:p>
                      <a:pPr marL="0" indent="0">
                        <a:lnSpc>
                          <a:spcPts val="2240"/>
                        </a:lnSpc>
                        <a:buNone/>
                      </a:pPr>
                      <a:r>
                        <a:rPr lang="en-US" sz="1600" dirty="0">
                          <a:solidFill>
                            <a:srgbClr val="3B4660"/>
                          </a:solidFill>
                          <a:latin typeface="IBM Plex Sans" pitchFamily="34" charset="0"/>
                          <a:ea typeface="IBM Plex Sans" pitchFamily="34" charset="-122"/>
                          <a:cs typeface="IBM Plex Sans" pitchFamily="34" charset="-120"/>
                        </a:rPr>
                        <a:t>the naive baseline</a:t>
                      </a:r>
                      <a:endParaRPr lang="en-US" sz="1600" dirty="0">
                        <a:latin typeface="IBM Plex Sans" charset="0"/>
                        <a:ea typeface="IBM Plex Sans" charset="0"/>
                        <a:cs typeface="IBM Plex Sans" charset="0"/>
                      </a:endParaRPr>
                    </a:p>
                  </a:txBody>
                  <a:tcPr marL="71120" marR="71120" marT="71120" marB="71120">
                    <a:lnL w="12700" cap="flat" cmpd="sng" algn="ctr">
                      <a:solidFill>
                        <a:srgbClr val="C8C6C0"/>
                      </a:solidFill>
                      <a:prstDash val="solid"/>
                      <a:round/>
                      <a:headEnd type="none" w="med" len="med"/>
                      <a:tailEnd type="none" w="med" len="med"/>
                    </a:lnL>
                    <a:lnR w="12700" cap="flat" cmpd="sng" algn="ctr">
                      <a:solidFill>
                        <a:srgbClr val="C8C6C0"/>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C8C6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812800" y="4436666"/>
            <a:ext cx="5181600" cy="863600"/>
          </a:xfrm>
          <a:prstGeom prst="roundRect">
            <a:avLst>
              <a:gd name="adj" fmla="val 11765"/>
            </a:avLst>
          </a:prstGeom>
          <a:solidFill>
            <a:srgbClr val="DBE7FF"/>
          </a:solidFill>
          <a:ln/>
        </p:spPr>
        <p:txBody>
          <a:bodyPr/>
          <a:lstStyle/>
          <a:p>
            <a:endParaRPr lang="en-US"/>
          </a:p>
        </p:txBody>
      </p:sp>
      <p:sp>
        <p:nvSpPr>
          <p:cNvPr id="8" name="Text 5"/>
          <p:cNvSpPr/>
          <p:nvPr/>
        </p:nvSpPr>
        <p:spPr>
          <a:xfrm>
            <a:off x="1016000" y="4589066"/>
            <a:ext cx="4918456"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Forecasts lean on the charge's own past. Laser and RF help, but much less.</a:t>
            </a:r>
            <a:endParaRPr lang="en-US" sz="1600" dirty="0"/>
          </a:p>
        </p:txBody>
      </p:sp>
      <p:sp>
        <p:nvSpPr>
          <p:cNvPr id="9" name="Shape 6"/>
          <p:cNvSpPr/>
          <p:nvPr/>
        </p:nvSpPr>
        <p:spPr>
          <a:xfrm>
            <a:off x="6197600" y="4436666"/>
            <a:ext cx="5181600" cy="863600"/>
          </a:xfrm>
          <a:prstGeom prst="roundRect">
            <a:avLst>
              <a:gd name="adj" fmla="val 11765"/>
            </a:avLst>
          </a:prstGeom>
          <a:solidFill>
            <a:srgbClr val="FDE2EF"/>
          </a:solidFill>
          <a:ln/>
        </p:spPr>
        <p:txBody>
          <a:bodyPr/>
          <a:lstStyle/>
          <a:p>
            <a:endParaRPr lang="en-US"/>
          </a:p>
        </p:txBody>
      </p:sp>
      <p:sp>
        <p:nvSpPr>
          <p:cNvPr id="10" name="Text 7"/>
          <p:cNvSpPr/>
          <p:nvPr/>
        </p:nvSpPr>
        <p:spPr>
          <a:xfrm>
            <a:off x="6400800" y="4589066"/>
            <a:ext cx="4918456"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For this challenge, custom datasets were acquired, and they are shared with you.</a:t>
            </a:r>
            <a:endParaRPr lang="en-US" sz="1600" dirty="0"/>
          </a:p>
        </p:txBody>
      </p:sp>
      <p:sp>
        <p:nvSpPr>
          <p:cNvPr id="11" name="Text 8"/>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12" name="Text 9"/>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B"/>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1D4ED8"/>
              </a:gs>
              <a:gs pos="55000">
                <a:srgbClr val="6D28D9"/>
              </a:gs>
              <a:gs pos="100000">
                <a:srgbClr val="DB2777"/>
              </a:gs>
            </a:gsLst>
            <a:lin ang="5400000" scaled="0"/>
          </a:gradFill>
          <a:ln/>
        </p:spPr>
        <p:txBody>
          <a:bodyPr/>
          <a:lstStyle/>
          <a:p>
            <a:endParaRPr lang="en-US"/>
          </a:p>
        </p:txBody>
      </p:sp>
      <p:sp>
        <p:nvSpPr>
          <p:cNvPr id="3" name="Text 1"/>
          <p:cNvSpPr/>
          <p:nvPr/>
        </p:nvSpPr>
        <p:spPr>
          <a:xfrm>
            <a:off x="812800" y="235712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A GOOD FIRST EXERCISE</a:t>
            </a:r>
            <a:endParaRPr lang="en-US" sz="1200" dirty="0"/>
          </a:p>
        </p:txBody>
      </p:sp>
      <p:sp>
        <p:nvSpPr>
          <p:cNvPr id="4" name="Text 2"/>
          <p:cNvSpPr>
            <a:spLocks noGrp="1"/>
          </p:cNvSpPr>
          <p:nvPr>
            <p:ph type="title"/>
          </p:nvPr>
        </p:nvSpPr>
        <p:spPr>
          <a:xfrm>
            <a:off x="812800" y="282067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gradFill rotWithShape="1">
                  <a:gsLst>
                    <a:gs pos="0">
                      <a:srgbClr val="1D4ED8"/>
                    </a:gs>
                    <a:gs pos="50000">
                      <a:srgbClr val="6D28D9"/>
                    </a:gs>
                    <a:gs pos="100000">
                      <a:srgbClr val="DB2777"/>
                    </a:gs>
                  </a:gsLst>
                  <a:lin ang="0" scaled="0"/>
                </a:gradFill>
                <a:latin typeface="Space Grotesk" pitchFamily="34" charset="0"/>
                <a:ea typeface="Space Grotesk" pitchFamily="34" charset="-122"/>
                <a:cs typeface="Space Grotesk" pitchFamily="34" charset="-120"/>
              </a:rPr>
              <a:t>Beat the rolling mean.</a:t>
            </a:r>
            <a:endParaRPr lang="en-US" sz="6000" dirty="0"/>
          </a:p>
        </p:txBody>
      </p:sp>
      <p:sp>
        <p:nvSpPr>
          <p:cNvPr id="5" name="Text 3"/>
          <p:cNvSpPr/>
          <p:nvPr/>
        </p:nvSpPr>
        <p:spPr>
          <a:xfrm>
            <a:off x="812800" y="3874770"/>
            <a:ext cx="11379200" cy="38735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4213D"/>
                </a:solidFill>
                <a:latin typeface="IBM Plex Sans" pitchFamily="34" charset="0"/>
                <a:ea typeface="IBM Plex Sans" pitchFamily="34" charset="-122"/>
                <a:cs typeface="IBM Plex Sans" pitchFamily="34" charset="-120"/>
              </a:rPr>
              <a:t>Predict each shot as the mean of the last 9 good shots. It is surprisingly hard to beat.</a:t>
            </a:r>
            <a:endParaRPr lang="en-US" sz="2200" dirty="0"/>
          </a:p>
        </p:txBody>
      </p:sp>
      <p:sp>
        <p:nvSpPr>
          <p:cNvPr id="9" name="Text 7"/>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10" name="Text 8"/>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THE DATA · OCTOBER 2026</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Many runs, many machine conditions</a:t>
            </a:r>
            <a:endParaRPr lang="en-US" sz="3600" dirty="0"/>
          </a:p>
        </p:txBody>
      </p:sp>
      <p:sp>
        <p:nvSpPr>
          <p:cNvPr id="5" name="Text 3"/>
          <p:cNvSpPr/>
          <p:nvPr/>
        </p:nvSpPr>
        <p:spPr>
          <a:xfrm>
            <a:off x="812800" y="1828800"/>
            <a:ext cx="10883392"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runs were taken on purpose under different conditions. None is labelled: recognising each one is part of the challenge.</a:t>
            </a:r>
            <a:endParaRPr lang="en-US" sz="1600" dirty="0"/>
          </a:p>
        </p:txBody>
      </p:sp>
      <p:sp>
        <p:nvSpPr>
          <p:cNvPr id="6" name="Shape 4"/>
          <p:cNvSpPr/>
          <p:nvPr/>
        </p:nvSpPr>
        <p:spPr>
          <a:xfrm>
            <a:off x="812800" y="2590800"/>
            <a:ext cx="5207000" cy="844550"/>
          </a:xfrm>
          <a:prstGeom prst="roundRect">
            <a:avLst>
              <a:gd name="adj" fmla="val 12030"/>
            </a:avLst>
          </a:prstGeom>
          <a:solidFill>
            <a:srgbClr val="D5F3EE"/>
          </a:solidFill>
          <a:ln/>
        </p:spPr>
        <p:txBody>
          <a:bodyPr/>
          <a:lstStyle/>
          <a:p>
            <a:endParaRPr lang="en-US"/>
          </a:p>
        </p:txBody>
      </p:sp>
      <p:pic>
        <p:nvPicPr>
          <p:cNvPr id="7" name="Image 0" descr="CheckCircle"/>
          <p:cNvPicPr>
            <a:picLocks noChangeAspect="1"/>
          </p:cNvPicPr>
          <p:nvPr/>
        </p:nvPicPr>
        <p:blipFill>
          <a:blip r:embed="rId3"/>
          <a:srcRect/>
          <a:stretch/>
        </p:blipFill>
        <p:spPr>
          <a:xfrm>
            <a:off x="990600" y="2768600"/>
            <a:ext cx="279400" cy="279400"/>
          </a:xfrm>
          <a:prstGeom prst="rect">
            <a:avLst/>
          </a:prstGeom>
        </p:spPr>
      </p:pic>
      <p:sp>
        <p:nvSpPr>
          <p:cNvPr id="8" name="Text 5"/>
          <p:cNvSpPr/>
          <p:nvPr/>
        </p:nvSpPr>
        <p:spPr>
          <a:xfrm>
            <a:off x="1422400" y="2768600"/>
            <a:ext cx="455218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Space Grotesk" pitchFamily="34" charset="0"/>
                <a:ea typeface="Space Grotesk" pitchFamily="34" charset="-122"/>
                <a:cs typeface="Space Grotesk" pitchFamily="34" charset="-120"/>
              </a:rPr>
              <a:t>Stable operation</a:t>
            </a:r>
            <a:endParaRPr lang="en-US" sz="1600" dirty="0"/>
          </a:p>
        </p:txBody>
      </p:sp>
      <p:sp>
        <p:nvSpPr>
          <p:cNvPr id="9" name="Text 6"/>
          <p:cNvSpPr/>
          <p:nvPr/>
        </p:nvSpPr>
        <p:spPr>
          <a:xfrm>
            <a:off x="1422400" y="3048000"/>
            <a:ext cx="45521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A steady machine: the cleanest case.</a:t>
            </a:r>
            <a:endParaRPr lang="en-US" sz="1200" dirty="0"/>
          </a:p>
        </p:txBody>
      </p:sp>
      <p:sp>
        <p:nvSpPr>
          <p:cNvPr id="10" name="Shape 7"/>
          <p:cNvSpPr/>
          <p:nvPr/>
        </p:nvSpPr>
        <p:spPr>
          <a:xfrm>
            <a:off x="6172200" y="2590800"/>
            <a:ext cx="5207000" cy="844550"/>
          </a:xfrm>
          <a:prstGeom prst="roundRect">
            <a:avLst>
              <a:gd name="adj" fmla="val 12030"/>
            </a:avLst>
          </a:prstGeom>
          <a:solidFill>
            <a:srgbClr val="FFE6D5"/>
          </a:solidFill>
          <a:ln/>
        </p:spPr>
        <p:txBody>
          <a:bodyPr/>
          <a:lstStyle/>
          <a:p>
            <a:endParaRPr lang="en-US"/>
          </a:p>
        </p:txBody>
      </p:sp>
      <p:pic>
        <p:nvPicPr>
          <p:cNvPr id="11" name="Image 1" descr="Warning"/>
          <p:cNvPicPr>
            <a:picLocks noChangeAspect="1"/>
          </p:cNvPicPr>
          <p:nvPr/>
        </p:nvPicPr>
        <p:blipFill>
          <a:blip r:embed="rId4"/>
          <a:srcRect/>
          <a:stretch/>
        </p:blipFill>
        <p:spPr>
          <a:xfrm>
            <a:off x="6350000" y="2768600"/>
            <a:ext cx="279400" cy="279400"/>
          </a:xfrm>
          <a:prstGeom prst="rect">
            <a:avLst/>
          </a:prstGeom>
        </p:spPr>
      </p:pic>
      <p:sp>
        <p:nvSpPr>
          <p:cNvPr id="12" name="Text 8"/>
          <p:cNvSpPr/>
          <p:nvPr/>
        </p:nvSpPr>
        <p:spPr>
          <a:xfrm>
            <a:off x="6781800" y="2768600"/>
            <a:ext cx="455218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Space Grotesk" pitchFamily="34" charset="0"/>
                <a:ea typeface="Space Grotesk" pitchFamily="34" charset="-122"/>
                <a:cs typeface="Space Grotesk" pitchFamily="34" charset="-120"/>
              </a:rPr>
              <a:t>Saturation</a:t>
            </a:r>
            <a:endParaRPr lang="en-US" sz="1600" dirty="0"/>
          </a:p>
        </p:txBody>
      </p:sp>
      <p:sp>
        <p:nvSpPr>
          <p:cNvPr id="13" name="Text 9"/>
          <p:cNvSpPr/>
          <p:nvPr/>
        </p:nvSpPr>
        <p:spPr>
          <a:xfrm>
            <a:off x="6781800" y="3048000"/>
            <a:ext cx="45521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Wrong conditions: little or no correlation to find.</a:t>
            </a:r>
            <a:endParaRPr lang="en-US" sz="1200" dirty="0"/>
          </a:p>
        </p:txBody>
      </p:sp>
      <p:sp>
        <p:nvSpPr>
          <p:cNvPr id="14" name="Shape 10"/>
          <p:cNvSpPr/>
          <p:nvPr/>
        </p:nvSpPr>
        <p:spPr>
          <a:xfrm>
            <a:off x="812800" y="3587750"/>
            <a:ext cx="5207000" cy="844550"/>
          </a:xfrm>
          <a:prstGeom prst="roundRect">
            <a:avLst>
              <a:gd name="adj" fmla="val 12030"/>
            </a:avLst>
          </a:prstGeom>
          <a:solidFill>
            <a:srgbClr val="DBE7FF"/>
          </a:solidFill>
          <a:ln/>
        </p:spPr>
        <p:txBody>
          <a:bodyPr/>
          <a:lstStyle/>
          <a:p>
            <a:endParaRPr lang="en-US"/>
          </a:p>
        </p:txBody>
      </p:sp>
      <p:pic>
        <p:nvPicPr>
          <p:cNvPr id="15" name="Image 2" descr="Activity"/>
          <p:cNvPicPr>
            <a:picLocks noChangeAspect="1"/>
          </p:cNvPicPr>
          <p:nvPr/>
        </p:nvPicPr>
        <p:blipFill>
          <a:blip r:embed="rId5"/>
          <a:srcRect/>
          <a:stretch/>
        </p:blipFill>
        <p:spPr>
          <a:xfrm>
            <a:off x="990600" y="3765550"/>
            <a:ext cx="279400" cy="279400"/>
          </a:xfrm>
          <a:prstGeom prst="rect">
            <a:avLst/>
          </a:prstGeom>
        </p:spPr>
      </p:pic>
      <p:sp>
        <p:nvSpPr>
          <p:cNvPr id="16" name="Text 11"/>
          <p:cNvSpPr/>
          <p:nvPr/>
        </p:nvSpPr>
        <p:spPr>
          <a:xfrm>
            <a:off x="1422400" y="3765550"/>
            <a:ext cx="455218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4ED8"/>
                </a:solidFill>
                <a:latin typeface="Space Grotesk" pitchFamily="34" charset="0"/>
                <a:ea typeface="Space Grotesk" pitchFamily="34" charset="-122"/>
                <a:cs typeface="Space Grotesk" pitchFamily="34" charset="-120"/>
              </a:rPr>
              <a:t>Single and multi-bunch</a:t>
            </a:r>
            <a:endParaRPr lang="en-US" sz="1600" dirty="0"/>
          </a:p>
        </p:txBody>
      </p:sp>
      <p:sp>
        <p:nvSpPr>
          <p:cNvPr id="17" name="Text 12"/>
          <p:cNvSpPr/>
          <p:nvPr/>
        </p:nvSpPr>
        <p:spPr>
          <a:xfrm>
            <a:off x="1422400" y="4044950"/>
            <a:ext cx="45521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One bunch per shot, or a whole train.</a:t>
            </a:r>
            <a:endParaRPr lang="en-US" sz="1200" dirty="0"/>
          </a:p>
        </p:txBody>
      </p:sp>
      <p:sp>
        <p:nvSpPr>
          <p:cNvPr id="18" name="Shape 13"/>
          <p:cNvSpPr/>
          <p:nvPr/>
        </p:nvSpPr>
        <p:spPr>
          <a:xfrm>
            <a:off x="6172200" y="3587750"/>
            <a:ext cx="5207000" cy="844550"/>
          </a:xfrm>
          <a:prstGeom prst="roundRect">
            <a:avLst>
              <a:gd name="adj" fmla="val 12030"/>
            </a:avLst>
          </a:prstGeom>
          <a:solidFill>
            <a:srgbClr val="FDE2EF"/>
          </a:solidFill>
          <a:ln/>
        </p:spPr>
        <p:txBody>
          <a:bodyPr/>
          <a:lstStyle/>
          <a:p>
            <a:endParaRPr lang="en-US"/>
          </a:p>
        </p:txBody>
      </p:sp>
      <p:pic>
        <p:nvPicPr>
          <p:cNvPr id="19" name="Image 3" descr="Lightning"/>
          <p:cNvPicPr>
            <a:picLocks noChangeAspect="1"/>
          </p:cNvPicPr>
          <p:nvPr/>
        </p:nvPicPr>
        <p:blipFill>
          <a:blip r:embed="rId6"/>
          <a:srcRect/>
          <a:stretch/>
        </p:blipFill>
        <p:spPr>
          <a:xfrm>
            <a:off x="6350000" y="3765550"/>
            <a:ext cx="279400" cy="279400"/>
          </a:xfrm>
          <a:prstGeom prst="rect">
            <a:avLst/>
          </a:prstGeom>
        </p:spPr>
      </p:pic>
      <p:sp>
        <p:nvSpPr>
          <p:cNvPr id="20" name="Text 14"/>
          <p:cNvSpPr/>
          <p:nvPr/>
        </p:nvSpPr>
        <p:spPr>
          <a:xfrm>
            <a:off x="6781800" y="3765550"/>
            <a:ext cx="455218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E185D"/>
                </a:solidFill>
                <a:latin typeface="Space Grotesk" pitchFamily="34" charset="0"/>
                <a:ea typeface="Space Grotesk" pitchFamily="34" charset="-122"/>
                <a:cs typeface="Space Grotesk" pitchFamily="34" charset="-120"/>
              </a:rPr>
              <a:t>Laser scans</a:t>
            </a:r>
            <a:endParaRPr lang="en-US" sz="1600" dirty="0"/>
          </a:p>
        </p:txBody>
      </p:sp>
      <p:sp>
        <p:nvSpPr>
          <p:cNvPr id="21" name="Text 15"/>
          <p:cNvSpPr/>
          <p:nvPr/>
        </p:nvSpPr>
        <p:spPr>
          <a:xfrm>
            <a:off x="6781800" y="4044950"/>
            <a:ext cx="45521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Laser position and/or intensity varied during the run.</a:t>
            </a:r>
            <a:endParaRPr lang="en-US" sz="1200" dirty="0"/>
          </a:p>
        </p:txBody>
      </p:sp>
      <p:sp>
        <p:nvSpPr>
          <p:cNvPr id="22" name="Shape 16"/>
          <p:cNvSpPr/>
          <p:nvPr/>
        </p:nvSpPr>
        <p:spPr>
          <a:xfrm>
            <a:off x="812800" y="4635500"/>
            <a:ext cx="10566400" cy="584200"/>
          </a:xfrm>
          <a:prstGeom prst="roundRect">
            <a:avLst>
              <a:gd name="adj" fmla="val 17391"/>
            </a:avLst>
          </a:prstGeom>
          <a:gradFill rotWithShape="1">
            <a:gsLst>
              <a:gs pos="0">
                <a:srgbClr val="1D4ED8"/>
              </a:gs>
              <a:gs pos="55000">
                <a:srgbClr val="6D28D9"/>
              </a:gs>
              <a:gs pos="100000">
                <a:srgbClr val="BE185D"/>
              </a:gs>
            </a:gsLst>
            <a:lin ang="0" scaled="0"/>
          </a:gradFill>
          <a:ln/>
        </p:spPr>
        <p:txBody>
          <a:bodyPr/>
          <a:lstStyle/>
          <a:p>
            <a:endParaRPr lang="en-US"/>
          </a:p>
        </p:txBody>
      </p:sp>
      <p:sp>
        <p:nvSpPr>
          <p:cNvPr id="23" name="Text 17"/>
          <p:cNvSpPr/>
          <p:nvPr/>
        </p:nvSpPr>
        <p:spPr>
          <a:xfrm>
            <a:off x="1016000" y="4787900"/>
            <a:ext cx="10464800"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DF7"/>
                </a:solidFill>
                <a:latin typeface="IBM Plex Sans" pitchFamily="34" charset="0"/>
                <a:ea typeface="IBM Plex Sans" pitchFamily="34" charset="-122"/>
                <a:cs typeface="IBM Plex Sans" pitchFamily="34" charset="-120"/>
              </a:rPr>
              <a:t>Not every run will be useful for training. </a:t>
            </a:r>
            <a:r>
              <a:rPr lang="en-US" sz="1600" b="1" dirty="0">
                <a:solidFill>
                  <a:srgbClr val="FFFDF7"/>
                </a:solidFill>
                <a:latin typeface="IBM Plex Sans" pitchFamily="34" charset="0"/>
                <a:ea typeface="IBM Plex Sans" pitchFamily="34" charset="-122"/>
                <a:cs typeface="IBM Plex Sans" pitchFamily="34" charset="-120"/>
              </a:rPr>
              <a:t>Every run will test your processing.</a:t>
            </a:r>
            <a:endParaRPr lang="en-US" sz="1600" dirty="0"/>
          </a:p>
        </p:txBody>
      </p:sp>
      <p:sp>
        <p:nvSpPr>
          <p:cNvPr id="24" name="Text 18"/>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25" name="Text 19"/>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WHAT IS RECORDED</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23 parameters in six families</a:t>
            </a:r>
            <a:endParaRPr lang="en-US" sz="3600" dirty="0"/>
          </a:p>
        </p:txBody>
      </p:sp>
      <p:sp>
        <p:nvSpPr>
          <p:cNvPr id="5" name="Shape 3"/>
          <p:cNvSpPr/>
          <p:nvPr/>
        </p:nvSpPr>
        <p:spPr>
          <a:xfrm>
            <a:off x="812800" y="1879600"/>
            <a:ext cx="3420467" cy="1587500"/>
          </a:xfrm>
          <a:prstGeom prst="roundRect">
            <a:avLst>
              <a:gd name="adj" fmla="val 6400"/>
            </a:avLst>
          </a:prstGeom>
          <a:solidFill>
            <a:srgbClr val="FFE6D5"/>
          </a:solidFill>
          <a:ln/>
        </p:spPr>
        <p:txBody>
          <a:bodyPr/>
          <a:lstStyle/>
          <a:p>
            <a:endParaRPr lang="en-US"/>
          </a:p>
        </p:txBody>
      </p:sp>
      <p:sp>
        <p:nvSpPr>
          <p:cNvPr id="6" name="Shape 4"/>
          <p:cNvSpPr/>
          <p:nvPr/>
        </p:nvSpPr>
        <p:spPr>
          <a:xfrm>
            <a:off x="812800" y="1879600"/>
            <a:ext cx="3420467" cy="1587500"/>
          </a:xfrm>
          <a:custGeom>
            <a:avLst/>
            <a:gdLst/>
            <a:ahLst/>
            <a:cxnLst/>
            <a:rect l="l" t="t" r="r" b="b"/>
            <a:pathLst>
              <a:path w="3420467" h="1587500">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C2410C"/>
          </a:solidFill>
          <a:ln/>
        </p:spPr>
        <p:txBody>
          <a:bodyPr/>
          <a:lstStyle/>
          <a:p>
            <a:endParaRPr lang="en-US"/>
          </a:p>
        </p:txBody>
      </p:sp>
      <p:sp>
        <p:nvSpPr>
          <p:cNvPr id="7" name="Text 5"/>
          <p:cNvSpPr/>
          <p:nvPr/>
        </p:nvSpPr>
        <p:spPr>
          <a:xfrm>
            <a:off x="990600" y="2108200"/>
            <a:ext cx="315681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Space Grotesk" pitchFamily="34" charset="0"/>
                <a:ea typeface="Space Grotesk" pitchFamily="34" charset="-122"/>
                <a:cs typeface="Space Grotesk" pitchFamily="34" charset="-120"/>
              </a:rPr>
              <a:t>Charge · target</a:t>
            </a:r>
            <a:endParaRPr lang="en-US" sz="1600" dirty="0"/>
          </a:p>
        </p:txBody>
      </p:sp>
      <p:sp>
        <p:nvSpPr>
          <p:cNvPr id="8" name="Text 6"/>
          <p:cNvSpPr/>
          <p:nvPr/>
        </p:nvSpPr>
        <p:spPr>
          <a:xfrm>
            <a:off x="990600" y="240030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BCM_GUN</a:t>
            </a:r>
            <a:endParaRPr lang="en-US" sz="1200" dirty="0"/>
          </a:p>
        </p:txBody>
      </p:sp>
      <p:sp>
        <p:nvSpPr>
          <p:cNvPr id="9" name="Text 7"/>
          <p:cNvSpPr/>
          <p:nvPr/>
        </p:nvSpPr>
        <p:spPr>
          <a:xfrm>
            <a:off x="990600" y="266065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beam charge at the gun, nC</a:t>
            </a:r>
            <a:endParaRPr lang="en-US" sz="1200" dirty="0"/>
          </a:p>
        </p:txBody>
      </p:sp>
      <p:sp>
        <p:nvSpPr>
          <p:cNvPr id="10" name="Shape 8"/>
          <p:cNvSpPr/>
          <p:nvPr/>
        </p:nvSpPr>
        <p:spPr>
          <a:xfrm>
            <a:off x="4385667" y="1879600"/>
            <a:ext cx="3420566" cy="1587500"/>
          </a:xfrm>
          <a:prstGeom prst="roundRect">
            <a:avLst>
              <a:gd name="adj" fmla="val 6400"/>
            </a:avLst>
          </a:prstGeom>
          <a:solidFill>
            <a:srgbClr val="FDE2EF"/>
          </a:solidFill>
          <a:ln/>
        </p:spPr>
        <p:txBody>
          <a:bodyPr/>
          <a:lstStyle/>
          <a:p>
            <a:endParaRPr lang="en-US"/>
          </a:p>
        </p:txBody>
      </p:sp>
      <p:sp>
        <p:nvSpPr>
          <p:cNvPr id="11" name="Shape 9"/>
          <p:cNvSpPr/>
          <p:nvPr/>
        </p:nvSpPr>
        <p:spPr>
          <a:xfrm>
            <a:off x="4385667" y="1879600"/>
            <a:ext cx="3420566" cy="1587500"/>
          </a:xfrm>
          <a:custGeom>
            <a:avLst/>
            <a:gdLst/>
            <a:ahLst/>
            <a:cxnLst/>
            <a:rect l="l" t="t" r="r" b="b"/>
            <a:pathLst>
              <a:path w="3420566" h="1587500">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BE185D"/>
          </a:solidFill>
          <a:ln/>
        </p:spPr>
        <p:txBody>
          <a:bodyPr/>
          <a:lstStyle/>
          <a:p>
            <a:endParaRPr lang="en-US"/>
          </a:p>
        </p:txBody>
      </p:sp>
      <p:sp>
        <p:nvSpPr>
          <p:cNvPr id="12" name="Text 10"/>
          <p:cNvSpPr/>
          <p:nvPr/>
        </p:nvSpPr>
        <p:spPr>
          <a:xfrm>
            <a:off x="4563467" y="2108200"/>
            <a:ext cx="315691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E185D"/>
                </a:solidFill>
                <a:latin typeface="Space Grotesk" pitchFamily="34" charset="0"/>
                <a:ea typeface="Space Grotesk" pitchFamily="34" charset="-122"/>
                <a:cs typeface="Space Grotesk" pitchFamily="34" charset="-120"/>
              </a:rPr>
              <a:t>Laser</a:t>
            </a:r>
            <a:endParaRPr lang="en-US" sz="1600" dirty="0"/>
          </a:p>
        </p:txBody>
      </p:sp>
      <p:sp>
        <p:nvSpPr>
          <p:cNvPr id="13" name="Text 11"/>
          <p:cNvSpPr/>
          <p:nvPr/>
        </p:nvSpPr>
        <p:spPr>
          <a:xfrm>
            <a:off x="4563467" y="2400300"/>
            <a:ext cx="3156915"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lab_laser_power clex_laser_power laser_scope BTV0125</a:t>
            </a:r>
            <a:endParaRPr lang="en-US" sz="1200" dirty="0"/>
          </a:p>
        </p:txBody>
      </p:sp>
      <p:sp>
        <p:nvSpPr>
          <p:cNvPr id="14" name="Text 12"/>
          <p:cNvSpPr/>
          <p:nvPr/>
        </p:nvSpPr>
        <p:spPr>
          <a:xfrm>
            <a:off x="4563467" y="2870200"/>
            <a:ext cx="3156915"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energy in the lab and in the linac (J), a fast photodiode, the virtual-cathode camera</a:t>
            </a:r>
            <a:endParaRPr lang="en-US" sz="1200" dirty="0"/>
          </a:p>
        </p:txBody>
      </p:sp>
      <p:sp>
        <p:nvSpPr>
          <p:cNvPr id="15" name="Shape 13"/>
          <p:cNvSpPr/>
          <p:nvPr/>
        </p:nvSpPr>
        <p:spPr>
          <a:xfrm>
            <a:off x="7958634" y="1879600"/>
            <a:ext cx="3420467" cy="1587500"/>
          </a:xfrm>
          <a:prstGeom prst="roundRect">
            <a:avLst>
              <a:gd name="adj" fmla="val 6400"/>
            </a:avLst>
          </a:prstGeom>
          <a:solidFill>
            <a:srgbClr val="DBE7FF"/>
          </a:solidFill>
          <a:ln/>
        </p:spPr>
        <p:txBody>
          <a:bodyPr/>
          <a:lstStyle/>
          <a:p>
            <a:endParaRPr lang="en-US"/>
          </a:p>
        </p:txBody>
      </p:sp>
      <p:sp>
        <p:nvSpPr>
          <p:cNvPr id="16" name="Shape 14"/>
          <p:cNvSpPr/>
          <p:nvPr/>
        </p:nvSpPr>
        <p:spPr>
          <a:xfrm>
            <a:off x="7958634" y="1879600"/>
            <a:ext cx="3420467" cy="1587500"/>
          </a:xfrm>
          <a:custGeom>
            <a:avLst/>
            <a:gdLst/>
            <a:ahLst/>
            <a:cxnLst/>
            <a:rect l="l" t="t" r="r" b="b"/>
            <a:pathLst>
              <a:path w="3420467" h="1587500">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1D4ED8"/>
          </a:solidFill>
          <a:ln/>
        </p:spPr>
        <p:txBody>
          <a:bodyPr/>
          <a:lstStyle/>
          <a:p>
            <a:endParaRPr lang="en-US"/>
          </a:p>
        </p:txBody>
      </p:sp>
      <p:sp>
        <p:nvSpPr>
          <p:cNvPr id="17" name="Text 15"/>
          <p:cNvSpPr/>
          <p:nvPr/>
        </p:nvSpPr>
        <p:spPr>
          <a:xfrm>
            <a:off x="8136434" y="2108200"/>
            <a:ext cx="315681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4ED8"/>
                </a:solidFill>
                <a:latin typeface="Space Grotesk" pitchFamily="34" charset="0"/>
                <a:ea typeface="Space Grotesk" pitchFamily="34" charset="-122"/>
                <a:cs typeface="Space Grotesk" pitchFamily="34" charset="-120"/>
              </a:rPr>
              <a:t>Gun RF</a:t>
            </a:r>
            <a:endParaRPr lang="en-US" sz="1600" dirty="0"/>
          </a:p>
        </p:txBody>
      </p:sp>
      <p:sp>
        <p:nvSpPr>
          <p:cNvPr id="18" name="Text 16"/>
          <p:cNvSpPr/>
          <p:nvPr/>
        </p:nvSpPr>
        <p:spPr>
          <a:xfrm>
            <a:off x="8136434" y="240030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PGIA PGRA PGLA PGIP</a:t>
            </a:r>
            <a:endParaRPr lang="en-US" sz="1200" dirty="0"/>
          </a:p>
        </p:txBody>
      </p:sp>
      <p:sp>
        <p:nvSpPr>
          <p:cNvPr id="19" name="Text 17"/>
          <p:cNvSpPr/>
          <p:nvPr/>
        </p:nvSpPr>
        <p:spPr>
          <a:xfrm>
            <a:off x="8136434" y="2660650"/>
            <a:ext cx="315681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incident and reflected power, gun loop, phase; 960-sample waveforms</a:t>
            </a:r>
            <a:endParaRPr lang="en-US" sz="1200" dirty="0"/>
          </a:p>
        </p:txBody>
      </p:sp>
      <p:sp>
        <p:nvSpPr>
          <p:cNvPr id="20" name="Shape 18"/>
          <p:cNvSpPr/>
          <p:nvPr/>
        </p:nvSpPr>
        <p:spPr>
          <a:xfrm>
            <a:off x="812800" y="3619500"/>
            <a:ext cx="3420467" cy="1377950"/>
          </a:xfrm>
          <a:prstGeom prst="roundRect">
            <a:avLst>
              <a:gd name="adj" fmla="val 7373"/>
            </a:avLst>
          </a:prstGeom>
          <a:solidFill>
            <a:srgbClr val="EDE4FF"/>
          </a:solidFill>
          <a:ln/>
        </p:spPr>
        <p:txBody>
          <a:bodyPr/>
          <a:lstStyle/>
          <a:p>
            <a:endParaRPr lang="en-US"/>
          </a:p>
        </p:txBody>
      </p:sp>
      <p:sp>
        <p:nvSpPr>
          <p:cNvPr id="21" name="Shape 19"/>
          <p:cNvSpPr/>
          <p:nvPr/>
        </p:nvSpPr>
        <p:spPr>
          <a:xfrm>
            <a:off x="812800" y="3619500"/>
            <a:ext cx="3420467" cy="1377950"/>
          </a:xfrm>
          <a:custGeom>
            <a:avLst/>
            <a:gdLst/>
            <a:ahLst/>
            <a:cxnLst/>
            <a:rect l="l" t="t" r="r" b="b"/>
            <a:pathLst>
              <a:path w="3420467" h="1377950">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6D28D9"/>
          </a:solidFill>
          <a:ln/>
        </p:spPr>
        <p:txBody>
          <a:bodyPr/>
          <a:lstStyle/>
          <a:p>
            <a:endParaRPr lang="en-US"/>
          </a:p>
        </p:txBody>
      </p:sp>
      <p:sp>
        <p:nvSpPr>
          <p:cNvPr id="22" name="Text 20"/>
          <p:cNvSpPr/>
          <p:nvPr/>
        </p:nvSpPr>
        <p:spPr>
          <a:xfrm>
            <a:off x="990600" y="3848100"/>
            <a:ext cx="315681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6D28D9"/>
                </a:solidFill>
                <a:latin typeface="Space Grotesk" pitchFamily="34" charset="0"/>
                <a:ea typeface="Space Grotesk" pitchFamily="34" charset="-122"/>
                <a:cs typeface="Space Grotesk" pitchFamily="34" charset="-120"/>
              </a:rPr>
              <a:t>Klystron 15</a:t>
            </a:r>
            <a:endParaRPr lang="en-US" sz="1600" dirty="0"/>
          </a:p>
        </p:txBody>
      </p:sp>
      <p:sp>
        <p:nvSpPr>
          <p:cNvPr id="23" name="Text 21"/>
          <p:cNvSpPr/>
          <p:nvPr/>
        </p:nvSpPr>
        <p:spPr>
          <a:xfrm>
            <a:off x="990600" y="414020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PKI15A PKR15A PKI15P</a:t>
            </a:r>
            <a:endParaRPr lang="en-US" sz="1200" dirty="0"/>
          </a:p>
        </p:txBody>
      </p:sp>
      <p:sp>
        <p:nvSpPr>
          <p:cNvPr id="24" name="Text 22"/>
          <p:cNvSpPr/>
          <p:nvPr/>
        </p:nvSpPr>
        <p:spPr>
          <a:xfrm>
            <a:off x="990600" y="4400550"/>
            <a:ext cx="315681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incident and reflected power, phase; 960-sample waveforms</a:t>
            </a:r>
            <a:endParaRPr lang="en-US" sz="1200" dirty="0"/>
          </a:p>
        </p:txBody>
      </p:sp>
      <p:sp>
        <p:nvSpPr>
          <p:cNvPr id="25" name="Shape 23"/>
          <p:cNvSpPr/>
          <p:nvPr/>
        </p:nvSpPr>
        <p:spPr>
          <a:xfrm>
            <a:off x="4385667" y="3619500"/>
            <a:ext cx="3420566" cy="1377950"/>
          </a:xfrm>
          <a:prstGeom prst="roundRect">
            <a:avLst>
              <a:gd name="adj" fmla="val 7373"/>
            </a:avLst>
          </a:prstGeom>
          <a:solidFill>
            <a:srgbClr val="D5F3EE"/>
          </a:solidFill>
          <a:ln/>
        </p:spPr>
        <p:txBody>
          <a:bodyPr/>
          <a:lstStyle/>
          <a:p>
            <a:endParaRPr lang="en-US"/>
          </a:p>
        </p:txBody>
      </p:sp>
      <p:sp>
        <p:nvSpPr>
          <p:cNvPr id="26" name="Shape 24"/>
          <p:cNvSpPr/>
          <p:nvPr/>
        </p:nvSpPr>
        <p:spPr>
          <a:xfrm>
            <a:off x="4385667" y="3619500"/>
            <a:ext cx="3420566" cy="1377950"/>
          </a:xfrm>
          <a:custGeom>
            <a:avLst/>
            <a:gdLst/>
            <a:ahLst/>
            <a:cxnLst/>
            <a:rect l="l" t="t" r="r" b="b"/>
            <a:pathLst>
              <a:path w="3420566" h="1377950">
                <a:moveTo>
                  <a:pt x="0" y="101600"/>
                </a:moveTo>
                <a:lnTo>
                  <a:pt x="0" y="101600"/>
                </a:lnTo>
                <a:arcTo wR="101600" hR="101600" stAng="10800000" swAng="5400000"/>
                <a:lnTo>
                  <a:pt x="3318966" y="0"/>
                </a:lnTo>
                <a:arcTo wR="101600" hR="101600" stAng="16200000" swAng="5400000"/>
                <a:lnTo>
                  <a:pt x="3420566" y="101600"/>
                </a:lnTo>
                <a:arcTo wR="101600" hR="50800" stAng="0" swAng="-5400000"/>
                <a:lnTo>
                  <a:pt x="101600" y="50800"/>
                </a:lnTo>
                <a:arcTo wR="101600" hR="50800" stAng="16200000" swAng="-5400000"/>
                <a:close/>
              </a:path>
            </a:pathLst>
          </a:custGeom>
          <a:solidFill>
            <a:srgbClr val="0F766E"/>
          </a:solidFill>
          <a:ln/>
        </p:spPr>
        <p:txBody>
          <a:bodyPr/>
          <a:lstStyle/>
          <a:p>
            <a:endParaRPr lang="en-US"/>
          </a:p>
        </p:txBody>
      </p:sp>
      <p:sp>
        <p:nvSpPr>
          <p:cNvPr id="27" name="Text 25"/>
          <p:cNvSpPr/>
          <p:nvPr/>
        </p:nvSpPr>
        <p:spPr>
          <a:xfrm>
            <a:off x="4563467" y="3848100"/>
            <a:ext cx="315691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Space Grotesk" pitchFamily="34" charset="0"/>
                <a:ea typeface="Space Grotesk" pitchFamily="34" charset="-122"/>
                <a:cs typeface="Space Grotesk" pitchFamily="34" charset="-120"/>
              </a:rPr>
              <a:t>Magnets</a:t>
            </a:r>
            <a:endParaRPr lang="en-US" sz="1600" dirty="0"/>
          </a:p>
        </p:txBody>
      </p:sp>
      <p:sp>
        <p:nvSpPr>
          <p:cNvPr id="28" name="Text 26"/>
          <p:cNvSpPr/>
          <p:nvPr/>
        </p:nvSpPr>
        <p:spPr>
          <a:xfrm>
            <a:off x="4563467" y="4140200"/>
            <a:ext cx="315691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SNH_110 SNI_120 DHG0130</a:t>
            </a:r>
            <a:endParaRPr lang="en-US" sz="1200" dirty="0"/>
          </a:p>
        </p:txBody>
      </p:sp>
      <p:sp>
        <p:nvSpPr>
          <p:cNvPr id="29" name="Text 27"/>
          <p:cNvSpPr/>
          <p:nvPr/>
        </p:nvSpPr>
        <p:spPr>
          <a:xfrm>
            <a:off x="4563467" y="4400550"/>
            <a:ext cx="315691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solenoid and corrector currents, A; slow</a:t>
            </a:r>
            <a:endParaRPr lang="en-US" sz="1200" dirty="0"/>
          </a:p>
        </p:txBody>
      </p:sp>
      <p:sp>
        <p:nvSpPr>
          <p:cNvPr id="30" name="Shape 28"/>
          <p:cNvSpPr/>
          <p:nvPr/>
        </p:nvSpPr>
        <p:spPr>
          <a:xfrm>
            <a:off x="7958634" y="3619500"/>
            <a:ext cx="3420467" cy="1377950"/>
          </a:xfrm>
          <a:prstGeom prst="roundRect">
            <a:avLst>
              <a:gd name="adj" fmla="val 7373"/>
            </a:avLst>
          </a:prstGeom>
          <a:solidFill>
            <a:srgbClr val="FDF0D5"/>
          </a:solidFill>
          <a:ln/>
        </p:spPr>
        <p:txBody>
          <a:bodyPr/>
          <a:lstStyle/>
          <a:p>
            <a:endParaRPr lang="en-US"/>
          </a:p>
        </p:txBody>
      </p:sp>
      <p:sp>
        <p:nvSpPr>
          <p:cNvPr id="31" name="Shape 29"/>
          <p:cNvSpPr/>
          <p:nvPr/>
        </p:nvSpPr>
        <p:spPr>
          <a:xfrm>
            <a:off x="7958634" y="3619500"/>
            <a:ext cx="3420467" cy="1377950"/>
          </a:xfrm>
          <a:custGeom>
            <a:avLst/>
            <a:gdLst/>
            <a:ahLst/>
            <a:cxnLst/>
            <a:rect l="l" t="t" r="r" b="b"/>
            <a:pathLst>
              <a:path w="3420467" h="1377950">
                <a:moveTo>
                  <a:pt x="0" y="101600"/>
                </a:moveTo>
                <a:lnTo>
                  <a:pt x="0" y="101600"/>
                </a:lnTo>
                <a:arcTo wR="101600" hR="101600" stAng="10800000" swAng="5400000"/>
                <a:lnTo>
                  <a:pt x="3318867" y="0"/>
                </a:lnTo>
                <a:arcTo wR="101600" hR="101600" stAng="16200000" swAng="5400000"/>
                <a:lnTo>
                  <a:pt x="3420467" y="101600"/>
                </a:lnTo>
                <a:arcTo wR="101600" hR="50800" stAng="0" swAng="-5400000"/>
                <a:lnTo>
                  <a:pt x="101600" y="50800"/>
                </a:lnTo>
                <a:arcTo wR="101600" hR="50800" stAng="16200000" swAng="-5400000"/>
                <a:close/>
              </a:path>
            </a:pathLst>
          </a:custGeom>
          <a:solidFill>
            <a:srgbClr val="B45309"/>
          </a:solidFill>
          <a:ln/>
        </p:spPr>
        <p:txBody>
          <a:bodyPr/>
          <a:lstStyle/>
          <a:p>
            <a:endParaRPr lang="en-US"/>
          </a:p>
        </p:txBody>
      </p:sp>
      <p:sp>
        <p:nvSpPr>
          <p:cNvPr id="32" name="Text 30"/>
          <p:cNvSpPr/>
          <p:nvPr/>
        </p:nvSpPr>
        <p:spPr>
          <a:xfrm>
            <a:off x="8136434" y="3848100"/>
            <a:ext cx="315681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Space Grotesk" pitchFamily="34" charset="0"/>
                <a:ea typeface="Space Grotesk" pitchFamily="34" charset="-122"/>
                <a:cs typeface="Space Grotesk" pitchFamily="34" charset="-120"/>
              </a:rPr>
              <a:t>Ambient</a:t>
            </a:r>
            <a:endParaRPr lang="en-US" sz="1600" dirty="0"/>
          </a:p>
        </p:txBody>
      </p:sp>
      <p:sp>
        <p:nvSpPr>
          <p:cNvPr id="33" name="Text 31"/>
          <p:cNvSpPr/>
          <p:nvPr/>
        </p:nvSpPr>
        <p:spPr>
          <a:xfrm>
            <a:off x="8136434" y="414020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Mono" pitchFamily="49" charset="0"/>
                <a:ea typeface="IBM Plex Mono" pitchFamily="49" charset="-122"/>
                <a:cs typeface="IBM Plex Mono" pitchFamily="49" charset="-120"/>
              </a:rPr>
              <a:t>TEMP1–4 HUMID1–4</a:t>
            </a:r>
            <a:endParaRPr lang="en-US" sz="1200" dirty="0"/>
          </a:p>
        </p:txBody>
      </p:sp>
      <p:sp>
        <p:nvSpPr>
          <p:cNvPr id="34" name="Text 32"/>
          <p:cNvSpPr/>
          <p:nvPr/>
        </p:nvSpPr>
        <p:spPr>
          <a:xfrm>
            <a:off x="8136434" y="4400550"/>
            <a:ext cx="31568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hall temperature and humidity; slow</a:t>
            </a:r>
            <a:endParaRPr lang="en-US" sz="1200" dirty="0"/>
          </a:p>
        </p:txBody>
      </p:sp>
      <p:sp>
        <p:nvSpPr>
          <p:cNvPr id="35" name="Text 33"/>
          <p:cNvSpPr/>
          <p:nvPr/>
        </p:nvSpPr>
        <p:spPr>
          <a:xfrm>
            <a:off x="812800" y="5251450"/>
            <a:ext cx="10883392"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Not every signal carries information.</a:t>
            </a:r>
            <a:r>
              <a:rPr lang="en-US" sz="1600" dirty="0">
                <a:solidFill>
                  <a:srgbClr val="14213D"/>
                </a:solidFill>
                <a:latin typeface="IBM Plex Sans" pitchFamily="34" charset="0"/>
                <a:ea typeface="IBM Plex Sans" pitchFamily="34" charset="-122"/>
                <a:cs typeface="IBM Plex Sans" pitchFamily="34" charset="-120"/>
              </a:rPr>
              <a:t> Finding out which ones do is part of the challenge.</a:t>
            </a:r>
            <a:endParaRPr lang="en-US" sz="1600" dirty="0"/>
          </a:p>
        </p:txBody>
      </p:sp>
      <p:sp>
        <p:nvSpPr>
          <p:cNvPr id="36" name="Text 34"/>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37" name="Text 35"/>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WHY IT IS HARD</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Real machine data</a:t>
            </a:r>
            <a:endParaRPr lang="en-US" sz="3600" dirty="0"/>
          </a:p>
        </p:txBody>
      </p:sp>
      <p:sp>
        <p:nvSpPr>
          <p:cNvPr id="5" name="Shape 3"/>
          <p:cNvSpPr/>
          <p:nvPr/>
        </p:nvSpPr>
        <p:spPr>
          <a:xfrm>
            <a:off x="812800" y="1930400"/>
            <a:ext cx="5207000" cy="1536700"/>
          </a:xfrm>
          <a:prstGeom prst="roundRect">
            <a:avLst>
              <a:gd name="adj" fmla="val 6612"/>
            </a:avLst>
          </a:prstGeom>
          <a:solidFill>
            <a:srgbClr val="DBE7FF"/>
          </a:solidFill>
          <a:ln/>
        </p:spPr>
        <p:txBody>
          <a:bodyPr/>
          <a:lstStyle/>
          <a:p>
            <a:endParaRPr lang="en-US"/>
          </a:p>
        </p:txBody>
      </p:sp>
      <p:pic>
        <p:nvPicPr>
          <p:cNvPr id="6" name="Image 0" descr="Clock"/>
          <p:cNvPicPr>
            <a:picLocks noChangeAspect="1"/>
          </p:cNvPicPr>
          <p:nvPr/>
        </p:nvPicPr>
        <p:blipFill>
          <a:blip r:embed="rId3"/>
          <a:srcRect/>
          <a:stretch/>
        </p:blipFill>
        <p:spPr>
          <a:xfrm>
            <a:off x="1016000" y="2133600"/>
            <a:ext cx="304800" cy="304800"/>
          </a:xfrm>
          <a:prstGeom prst="rect">
            <a:avLst/>
          </a:prstGeom>
        </p:spPr>
      </p:pic>
      <p:sp>
        <p:nvSpPr>
          <p:cNvPr id="7" name="Text 4"/>
          <p:cNvSpPr/>
          <p:nvPr/>
        </p:nvSpPr>
        <p:spPr>
          <a:xfrm>
            <a:off x="1473200" y="2133600"/>
            <a:ext cx="4473702"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4ED8"/>
                </a:solidFill>
                <a:latin typeface="Space Grotesk" pitchFamily="34" charset="0"/>
                <a:ea typeface="Space Grotesk" pitchFamily="34" charset="-122"/>
                <a:cs typeface="Space Grotesk" pitchFamily="34" charset="-120"/>
              </a:rPr>
              <a:t>Every reading has its own clock</a:t>
            </a:r>
            <a:endParaRPr lang="en-US" sz="1600" dirty="0"/>
          </a:p>
        </p:txBody>
      </p:sp>
      <p:sp>
        <p:nvSpPr>
          <p:cNvPr id="8" name="Text 5"/>
          <p:cNvSpPr/>
          <p:nvPr/>
        </p:nvSpPr>
        <p:spPr>
          <a:xfrm>
            <a:off x="1473200" y="2425700"/>
            <a:ext cx="4473702" cy="8636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A device that has not updated yet hands over the previous shot. Put each reading back on its shot.</a:t>
            </a:r>
            <a:endParaRPr lang="en-US" sz="1600" dirty="0"/>
          </a:p>
        </p:txBody>
      </p:sp>
      <p:sp>
        <p:nvSpPr>
          <p:cNvPr id="9" name="Shape 6"/>
          <p:cNvSpPr/>
          <p:nvPr/>
        </p:nvSpPr>
        <p:spPr>
          <a:xfrm>
            <a:off x="6172200" y="1930400"/>
            <a:ext cx="5207000" cy="1536700"/>
          </a:xfrm>
          <a:prstGeom prst="roundRect">
            <a:avLst>
              <a:gd name="adj" fmla="val 6612"/>
            </a:avLst>
          </a:prstGeom>
          <a:solidFill>
            <a:srgbClr val="FDF0D5"/>
          </a:solidFill>
          <a:ln/>
        </p:spPr>
        <p:txBody>
          <a:bodyPr/>
          <a:lstStyle/>
          <a:p>
            <a:endParaRPr lang="en-US"/>
          </a:p>
        </p:txBody>
      </p:sp>
      <p:pic>
        <p:nvPicPr>
          <p:cNvPr id="10" name="Image 1" descr="Activity"/>
          <p:cNvPicPr>
            <a:picLocks noChangeAspect="1"/>
          </p:cNvPicPr>
          <p:nvPr/>
        </p:nvPicPr>
        <p:blipFill>
          <a:blip r:embed="rId4"/>
          <a:srcRect/>
          <a:stretch/>
        </p:blipFill>
        <p:spPr>
          <a:xfrm>
            <a:off x="6375400" y="2133600"/>
            <a:ext cx="304800" cy="304800"/>
          </a:xfrm>
          <a:prstGeom prst="rect">
            <a:avLst/>
          </a:prstGeom>
        </p:spPr>
      </p:pic>
      <p:sp>
        <p:nvSpPr>
          <p:cNvPr id="11" name="Text 7"/>
          <p:cNvSpPr/>
          <p:nvPr/>
        </p:nvSpPr>
        <p:spPr>
          <a:xfrm>
            <a:off x="6832600" y="2133600"/>
            <a:ext cx="4473702"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Space Grotesk" pitchFamily="34" charset="0"/>
                <a:ea typeface="Space Grotesk" pitchFamily="34" charset="-122"/>
                <a:cs typeface="Space Grotesk" pitchFamily="34" charset="-120"/>
              </a:rPr>
              <a:t>Slow devices</a:t>
            </a:r>
            <a:endParaRPr lang="en-US" sz="1600" dirty="0"/>
          </a:p>
        </p:txBody>
      </p:sp>
      <p:sp>
        <p:nvSpPr>
          <p:cNvPr id="12" name="Text 8"/>
          <p:cNvSpPr/>
          <p:nvPr/>
        </p:nvSpPr>
        <p:spPr>
          <a:xfrm>
            <a:off x="6832600" y="2425700"/>
            <a:ext cx="4473702"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Temperature, humidity and magnet currents update less than once per shot.</a:t>
            </a:r>
            <a:endParaRPr lang="en-US" sz="1600" dirty="0"/>
          </a:p>
        </p:txBody>
      </p:sp>
      <p:sp>
        <p:nvSpPr>
          <p:cNvPr id="13" name="Shape 9"/>
          <p:cNvSpPr/>
          <p:nvPr/>
        </p:nvSpPr>
        <p:spPr>
          <a:xfrm>
            <a:off x="812800" y="3619500"/>
            <a:ext cx="5207000" cy="1536700"/>
          </a:xfrm>
          <a:prstGeom prst="roundRect">
            <a:avLst>
              <a:gd name="adj" fmla="val 6612"/>
            </a:avLst>
          </a:prstGeom>
          <a:solidFill>
            <a:srgbClr val="FFE6D5"/>
          </a:solidFill>
          <a:ln/>
        </p:spPr>
        <p:txBody>
          <a:bodyPr/>
          <a:lstStyle/>
          <a:p>
            <a:endParaRPr lang="en-US"/>
          </a:p>
        </p:txBody>
      </p:sp>
      <p:pic>
        <p:nvPicPr>
          <p:cNvPr id="14" name="Image 2" descr="Warning"/>
          <p:cNvPicPr>
            <a:picLocks noChangeAspect="1"/>
          </p:cNvPicPr>
          <p:nvPr/>
        </p:nvPicPr>
        <p:blipFill>
          <a:blip r:embed="rId5"/>
          <a:srcRect/>
          <a:stretch/>
        </p:blipFill>
        <p:spPr>
          <a:xfrm>
            <a:off x="1016000" y="3822700"/>
            <a:ext cx="304800" cy="304800"/>
          </a:xfrm>
          <a:prstGeom prst="rect">
            <a:avLst/>
          </a:prstGeom>
        </p:spPr>
      </p:pic>
      <p:sp>
        <p:nvSpPr>
          <p:cNvPr id="15" name="Text 10"/>
          <p:cNvSpPr/>
          <p:nvPr/>
        </p:nvSpPr>
        <p:spPr>
          <a:xfrm>
            <a:off x="1473200" y="3822700"/>
            <a:ext cx="4473702"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410C"/>
                </a:solidFill>
                <a:latin typeface="Space Grotesk" pitchFamily="34" charset="0"/>
                <a:ea typeface="Space Grotesk" pitchFamily="34" charset="-122"/>
                <a:cs typeface="Space Grotesk" pitchFamily="34" charset="-120"/>
              </a:rPr>
              <a:t>Bad shots</a:t>
            </a:r>
            <a:endParaRPr lang="en-US" sz="1600" dirty="0"/>
          </a:p>
        </p:txBody>
      </p:sp>
      <p:sp>
        <p:nvSpPr>
          <p:cNvPr id="16" name="Text 11"/>
          <p:cNvSpPr/>
          <p:nvPr/>
        </p:nvSpPr>
        <p:spPr>
          <a:xfrm>
            <a:off x="1473200" y="4114800"/>
            <a:ext cx="4473702"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Charge dropouts, bad camera exposures, a saturated scope. Flag them, don't delete them.</a:t>
            </a:r>
            <a:endParaRPr lang="en-US" sz="1600" dirty="0"/>
          </a:p>
        </p:txBody>
      </p:sp>
      <p:sp>
        <p:nvSpPr>
          <p:cNvPr id="17" name="Shape 12"/>
          <p:cNvSpPr/>
          <p:nvPr/>
        </p:nvSpPr>
        <p:spPr>
          <a:xfrm>
            <a:off x="6172200" y="3619500"/>
            <a:ext cx="5207000" cy="1536700"/>
          </a:xfrm>
          <a:prstGeom prst="roundRect">
            <a:avLst>
              <a:gd name="adj" fmla="val 6612"/>
            </a:avLst>
          </a:prstGeom>
          <a:solidFill>
            <a:srgbClr val="EDE4FF"/>
          </a:solidFill>
          <a:ln/>
        </p:spPr>
        <p:txBody>
          <a:bodyPr/>
          <a:lstStyle/>
          <a:p>
            <a:endParaRPr lang="en-US"/>
          </a:p>
        </p:txBody>
      </p:sp>
      <p:pic>
        <p:nvPicPr>
          <p:cNvPr id="18" name="Image 3" descr="Wrench"/>
          <p:cNvPicPr>
            <a:picLocks noChangeAspect="1"/>
          </p:cNvPicPr>
          <p:nvPr/>
        </p:nvPicPr>
        <p:blipFill>
          <a:blip r:embed="rId6"/>
          <a:srcRect/>
          <a:stretch/>
        </p:blipFill>
        <p:spPr>
          <a:xfrm>
            <a:off x="6375400" y="3822700"/>
            <a:ext cx="304800" cy="304800"/>
          </a:xfrm>
          <a:prstGeom prst="rect">
            <a:avLst/>
          </a:prstGeom>
        </p:spPr>
      </p:pic>
      <p:sp>
        <p:nvSpPr>
          <p:cNvPr id="19" name="Text 13"/>
          <p:cNvSpPr/>
          <p:nvPr/>
        </p:nvSpPr>
        <p:spPr>
          <a:xfrm>
            <a:off x="6832600" y="3822700"/>
            <a:ext cx="4473702"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6D28D9"/>
                </a:solidFill>
                <a:latin typeface="Space Grotesk" pitchFamily="34" charset="0"/>
                <a:ea typeface="Space Grotesk" pitchFamily="34" charset="-122"/>
                <a:cs typeface="Space Grotesk" pitchFamily="34" charset="-120"/>
              </a:rPr>
              <a:t>Features to build</a:t>
            </a:r>
            <a:endParaRPr lang="en-US" sz="1600" dirty="0"/>
          </a:p>
        </p:txBody>
      </p:sp>
      <p:sp>
        <p:nvSpPr>
          <p:cNvPr id="20" name="Text 14"/>
          <p:cNvSpPr/>
          <p:nvPr/>
        </p:nvSpPr>
        <p:spPr>
          <a:xfrm>
            <a:off x="6832600" y="4114800"/>
            <a:ext cx="4473702" cy="8636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Waveforms and camera images must become numbers: peaks, integrals, windows, spot position.</a:t>
            </a:r>
            <a:endParaRPr lang="en-US" sz="1600" dirty="0"/>
          </a:p>
        </p:txBody>
      </p:sp>
      <p:sp>
        <p:nvSpPr>
          <p:cNvPr id="21" name="Text 15"/>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22" name="Text 16"/>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Shape 1"/>
          <p:cNvSpPr/>
          <p:nvPr/>
        </p:nvSpPr>
        <p:spPr>
          <a:xfrm>
            <a:off x="812800" y="812800"/>
            <a:ext cx="1557040" cy="285750"/>
          </a:xfrm>
          <a:prstGeom prst="roundRect">
            <a:avLst>
              <a:gd name="adj" fmla="val 17778"/>
            </a:avLst>
          </a:prstGeom>
          <a:solidFill>
            <a:srgbClr val="0F766E"/>
          </a:solidFill>
          <a:ln/>
        </p:spPr>
        <p:txBody>
          <a:bodyPr/>
          <a:lstStyle/>
          <a:p>
            <a:endParaRPr lang="en-US"/>
          </a:p>
        </p:txBody>
      </p:sp>
      <p:sp>
        <p:nvSpPr>
          <p:cNvPr id="4" name="Text 2"/>
          <p:cNvSpPr/>
          <p:nvPr/>
        </p:nvSpPr>
        <p:spPr>
          <a:xfrm>
            <a:off x="914400" y="850900"/>
            <a:ext cx="140464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FDF7"/>
                </a:solidFill>
                <a:latin typeface="IBM Plex Mono" pitchFamily="49" charset="0"/>
                <a:ea typeface="IBM Plex Mono" pitchFamily="49" charset="-122"/>
                <a:cs typeface="IBM Plex Mono" pitchFamily="49" charset="-120"/>
              </a:rPr>
              <a:t>TIER 1 · EASY</a:t>
            </a:r>
            <a:endParaRPr lang="en-US" sz="1200" dirty="0"/>
          </a:p>
        </p:txBody>
      </p:sp>
      <p:sp>
        <p:nvSpPr>
          <p:cNvPr id="5" name="Text 3"/>
          <p:cNvSpPr>
            <a:spLocks noGrp="1"/>
          </p:cNvSpPr>
          <p:nvPr>
            <p:ph type="title"/>
          </p:nvPr>
        </p:nvSpPr>
        <p:spPr>
          <a:xfrm>
            <a:off x="812800" y="12001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Understand and clean the data</a:t>
            </a:r>
            <a:endParaRPr lang="en-US" sz="3600" dirty="0"/>
          </a:p>
        </p:txBody>
      </p:sp>
      <p:sp>
        <p:nvSpPr>
          <p:cNvPr id="7" name="Text 5"/>
          <p:cNvSpPr/>
          <p:nvPr/>
        </p:nvSpPr>
        <p:spPr>
          <a:xfrm>
            <a:off x="815975" y="2295525"/>
            <a:ext cx="5506541" cy="946150"/>
          </a:xfrm>
          <a:prstGeom prst="roundRect">
            <a:avLst>
              <a:gd name="adj" fmla="val 7718"/>
            </a:avLst>
          </a:prstGeom>
          <a:solidFill>
            <a:srgbClr val="FFFDF8"/>
          </a:solidFill>
          <a:ln w="6350">
            <a:solidFill>
              <a:srgbClr val="E6E0D2"/>
            </a:solidFill>
            <a:prstDash val="solid"/>
          </a:ln>
        </p:spPr>
        <p:txBody>
          <a:bodyPr wrap="square" lIns="134187" tIns="108787" rIns="0" bIns="83387" rtlCol="0" anchor="t">
            <a:normAutofit/>
          </a:bodyPr>
          <a:lstStyle/>
          <a:p>
            <a:pPr marL="0" indent="0" algn="l">
              <a:lnSpc>
                <a:spcPts val="1800"/>
              </a:lnSpc>
              <a:buNone/>
            </a:pPr>
            <a:r>
              <a:rPr lang="en-US" sz="1200" dirty="0">
                <a:solidFill>
                  <a:srgbClr val="14213D"/>
                </a:solidFill>
                <a:latin typeface="IBM Plex Mono" pitchFamily="49" charset="0"/>
                <a:ea typeface="IBM Plex Mono" pitchFamily="49" charset="-122"/>
                <a:cs typeface="IBM Plex Mono" pitchFamily="49" charset="-120"/>
              </a:rPr>
              <a:t>Clean the raw run, and grasp understand of all of them in which conditions were acquired and what they mean</a:t>
            </a:r>
            <a:endParaRPr lang="en-US" sz="1200" dirty="0"/>
          </a:p>
        </p:txBody>
      </p:sp>
      <p:sp>
        <p:nvSpPr>
          <p:cNvPr id="8" name="Text 6"/>
          <p:cNvSpPr/>
          <p:nvPr/>
        </p:nvSpPr>
        <p:spPr>
          <a:xfrm>
            <a:off x="870458" y="3448050"/>
            <a:ext cx="5613000" cy="1701800"/>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Work out each run's regime from the data</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Flag dropouts and bad shots; don't delete them</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Put every reading back on its own shot</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Go beyond a waveform's peak and integral</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Rank every signal four ways: Pearson, Spearman, distance correlation, mutual information</a:t>
            </a:r>
            <a:endParaRPr lang="en-US" sz="1600" dirty="0"/>
          </a:p>
        </p:txBody>
      </p:sp>
      <p:sp>
        <p:nvSpPr>
          <p:cNvPr id="9" name="Shape 7"/>
          <p:cNvSpPr/>
          <p:nvPr/>
        </p:nvSpPr>
        <p:spPr>
          <a:xfrm>
            <a:off x="6630491" y="2006600"/>
            <a:ext cx="4748709" cy="3117850"/>
          </a:xfrm>
          <a:prstGeom prst="roundRect">
            <a:avLst>
              <a:gd name="adj" fmla="val 3259"/>
            </a:avLst>
          </a:prstGeom>
          <a:solidFill>
            <a:srgbClr val="D5F3EE"/>
          </a:solidFill>
          <a:ln/>
        </p:spPr>
        <p:txBody>
          <a:bodyPr/>
          <a:lstStyle/>
          <a:p>
            <a:endParaRPr lang="en-US"/>
          </a:p>
        </p:txBody>
      </p:sp>
      <p:sp>
        <p:nvSpPr>
          <p:cNvPr id="10" name="Shape 8"/>
          <p:cNvSpPr/>
          <p:nvPr/>
        </p:nvSpPr>
        <p:spPr>
          <a:xfrm>
            <a:off x="6630491" y="2006600"/>
            <a:ext cx="4748709" cy="3117850"/>
          </a:xfrm>
          <a:custGeom>
            <a:avLst/>
            <a:gdLst/>
            <a:ahLst/>
            <a:cxnLst/>
            <a:rect l="l" t="t" r="r" b="b"/>
            <a:pathLst>
              <a:path w="4748709" h="3117850">
                <a:moveTo>
                  <a:pt x="0" y="101600"/>
                </a:moveTo>
                <a:lnTo>
                  <a:pt x="0" y="101600"/>
                </a:lnTo>
                <a:arcTo wR="101600" hR="101600" stAng="10800000" swAng="5400000"/>
                <a:lnTo>
                  <a:pt x="4647109" y="0"/>
                </a:lnTo>
                <a:arcTo wR="101600" hR="101600" stAng="16200000" swAng="5400000"/>
                <a:lnTo>
                  <a:pt x="4748709" y="101600"/>
                </a:lnTo>
                <a:arcTo wR="101600" hR="50800" stAng="0" swAng="-5400000"/>
                <a:lnTo>
                  <a:pt x="101600" y="50800"/>
                </a:lnTo>
                <a:arcTo wR="101600" hR="50800" stAng="16200000" swAng="-5400000"/>
                <a:close/>
              </a:path>
            </a:pathLst>
          </a:custGeom>
          <a:solidFill>
            <a:srgbClr val="0F766E"/>
          </a:solidFill>
          <a:ln/>
        </p:spPr>
        <p:txBody>
          <a:bodyPr/>
          <a:lstStyle/>
          <a:p>
            <a:endParaRPr lang="en-US"/>
          </a:p>
        </p:txBody>
      </p:sp>
      <p:sp>
        <p:nvSpPr>
          <p:cNvPr id="11" name="Text 9"/>
          <p:cNvSpPr/>
          <p:nvPr/>
        </p:nvSpPr>
        <p:spPr>
          <a:xfrm>
            <a:off x="6884491" y="2311400"/>
            <a:ext cx="436793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F766E"/>
                </a:solidFill>
                <a:latin typeface="IBM Plex Mono" pitchFamily="49" charset="0"/>
                <a:ea typeface="IBM Plex Mono" pitchFamily="49" charset="-122"/>
                <a:cs typeface="IBM Plex Mono" pitchFamily="49" charset="-120"/>
              </a:rPr>
              <a:t>THE GOAL</a:t>
            </a:r>
            <a:endParaRPr lang="en-US" sz="1200" dirty="0"/>
          </a:p>
        </p:txBody>
      </p:sp>
      <p:sp>
        <p:nvSpPr>
          <p:cNvPr id="12" name="Text 10"/>
          <p:cNvSpPr/>
          <p:nvPr/>
        </p:nvSpPr>
        <p:spPr>
          <a:xfrm>
            <a:off x="6942149" y="2647949"/>
            <a:ext cx="4302652" cy="2079625"/>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600" dirty="0">
                <a:solidFill>
                  <a:srgbClr val="14213D"/>
                </a:solidFill>
                <a:latin typeface="IBM Plex Sans" pitchFamily="34" charset="0"/>
                <a:ea typeface="IBM Plex Sans" pitchFamily="34" charset="-122"/>
                <a:cs typeface="IBM Plex Sans" pitchFamily="34" charset="-120"/>
              </a:rPr>
              <a:t>Synchronize the data checking different at lags for different variables</a:t>
            </a:r>
            <a:endParaRPr lang="en-US" sz="1600" dirty="0"/>
          </a:p>
          <a:p>
            <a:pPr marL="342900" indent="-342900" algn="l">
              <a:lnSpc>
                <a:spcPts val="2240"/>
              </a:lnSpc>
              <a:buSzPct val="100000"/>
              <a:buFont typeface="+mj-lt"/>
              <a:buAutoNum type="arabicPeriod"/>
            </a:pPr>
            <a:r>
              <a:rPr lang="en-US" sz="1600" dirty="0">
                <a:solidFill>
                  <a:srgbClr val="14213D"/>
                </a:solidFill>
                <a:latin typeface="IBM Plex Sans" pitchFamily="34" charset="0"/>
                <a:ea typeface="IBM Plex Sans" pitchFamily="34" charset="-122"/>
                <a:cs typeface="IBM Plex Sans" pitchFamily="34" charset="-120"/>
              </a:rPr>
              <a:t>A reason for every variable kept or dropped</a:t>
            </a:r>
            <a:endParaRPr lang="en-US" sz="1600" dirty="0"/>
          </a:p>
          <a:p>
            <a:pPr marL="342900" indent="-342900" algn="l">
              <a:lnSpc>
                <a:spcPts val="2240"/>
              </a:lnSpc>
              <a:buSzPct val="100000"/>
              <a:buFont typeface="+mj-lt"/>
              <a:buAutoNum type="arabicPeriod"/>
            </a:pPr>
            <a:r>
              <a:rPr lang="en-US" sz="1600" dirty="0">
                <a:solidFill>
                  <a:srgbClr val="14213D"/>
                </a:solidFill>
                <a:latin typeface="IBM Plex Sans" pitchFamily="34" charset="0"/>
                <a:ea typeface="IBM Plex Sans" pitchFamily="34" charset="-122"/>
                <a:cs typeface="IBM Plex Sans" pitchFamily="34" charset="-120"/>
              </a:rPr>
              <a:t>A ranking that holds across runs, or is explained where it changes</a:t>
            </a:r>
          </a:p>
          <a:p>
            <a:pPr marL="342900" indent="-342900" algn="l">
              <a:lnSpc>
                <a:spcPts val="2240"/>
              </a:lnSpc>
              <a:buSzPct val="100000"/>
              <a:buFont typeface="+mj-lt"/>
              <a:buAutoNum type="arabicPeriod"/>
            </a:pPr>
            <a:r>
              <a:rPr lang="en-US" sz="1600" dirty="0">
                <a:solidFill>
                  <a:srgbClr val="14213D"/>
                </a:solidFill>
                <a:latin typeface="IBM Plex Sans" pitchFamily="34" charset="0"/>
              </a:rPr>
              <a:t>Prepare dataset for the future test</a:t>
            </a:r>
            <a:endParaRPr lang="en-US" sz="1600" dirty="0"/>
          </a:p>
        </p:txBody>
      </p:sp>
      <p:sp>
        <p:nvSpPr>
          <p:cNvPr id="13" name="Text 11"/>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14" name="Text 1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Shape 1"/>
          <p:cNvSpPr/>
          <p:nvPr/>
        </p:nvSpPr>
        <p:spPr>
          <a:xfrm>
            <a:off x="812800" y="812800"/>
            <a:ext cx="1765300" cy="285750"/>
          </a:xfrm>
          <a:prstGeom prst="roundRect">
            <a:avLst>
              <a:gd name="adj" fmla="val 17778"/>
            </a:avLst>
          </a:prstGeom>
          <a:solidFill>
            <a:srgbClr val="1D4ED8"/>
          </a:solidFill>
          <a:ln/>
        </p:spPr>
        <p:txBody>
          <a:bodyPr/>
          <a:lstStyle/>
          <a:p>
            <a:endParaRPr lang="en-US"/>
          </a:p>
        </p:txBody>
      </p:sp>
      <p:sp>
        <p:nvSpPr>
          <p:cNvPr id="4" name="Text 2"/>
          <p:cNvSpPr/>
          <p:nvPr/>
        </p:nvSpPr>
        <p:spPr>
          <a:xfrm>
            <a:off x="914400" y="850900"/>
            <a:ext cx="161290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FDF7"/>
                </a:solidFill>
                <a:latin typeface="IBM Plex Mono" pitchFamily="49" charset="0"/>
                <a:ea typeface="IBM Plex Mono" pitchFamily="49" charset="-122"/>
                <a:cs typeface="IBM Plex Mono" pitchFamily="49" charset="-120"/>
              </a:rPr>
              <a:t>TIER 2 · MEDIUM</a:t>
            </a:r>
            <a:endParaRPr lang="en-US" sz="1200" dirty="0"/>
          </a:p>
        </p:txBody>
      </p:sp>
      <p:sp>
        <p:nvSpPr>
          <p:cNvPr id="5" name="Text 3"/>
          <p:cNvSpPr>
            <a:spLocks noGrp="1"/>
          </p:cNvSpPr>
          <p:nvPr>
            <p:ph type="title"/>
          </p:nvPr>
        </p:nvSpPr>
        <p:spPr>
          <a:xfrm>
            <a:off x="812800" y="12001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Virtual diagnostic</a:t>
            </a:r>
            <a:endParaRPr lang="en-US" sz="3600" dirty="0"/>
          </a:p>
        </p:txBody>
      </p:sp>
      <p:sp>
        <p:nvSpPr>
          <p:cNvPr id="7" name="Text 5"/>
          <p:cNvSpPr/>
          <p:nvPr/>
        </p:nvSpPr>
        <p:spPr>
          <a:xfrm>
            <a:off x="815975" y="2295525"/>
            <a:ext cx="5506541" cy="717550"/>
          </a:xfrm>
          <a:prstGeom prst="roundRect">
            <a:avLst>
              <a:gd name="adj" fmla="val 10177"/>
            </a:avLst>
          </a:prstGeom>
          <a:solidFill>
            <a:srgbClr val="FFFDF8"/>
          </a:solidFill>
          <a:ln w="6350">
            <a:solidFill>
              <a:srgbClr val="E6E0D2"/>
            </a:solidFill>
            <a:prstDash val="solid"/>
          </a:ln>
        </p:spPr>
        <p:txBody>
          <a:bodyPr wrap="square" lIns="134187" tIns="108787" rIns="0" bIns="83387" rtlCol="0" anchor="t">
            <a:normAutofit/>
          </a:bodyPr>
          <a:lstStyle/>
          <a:p>
            <a:pPr marL="0" indent="0" algn="l">
              <a:lnSpc>
                <a:spcPts val="1800"/>
              </a:lnSpc>
              <a:buNone/>
            </a:pPr>
            <a:r>
              <a:rPr lang="en-US" sz="1200" dirty="0">
                <a:solidFill>
                  <a:srgbClr val="14213D"/>
                </a:solidFill>
                <a:latin typeface="IBM Plex Mono" pitchFamily="49" charset="0"/>
                <a:ea typeface="IBM Plex Mono" pitchFamily="49" charset="-122"/>
                <a:cs typeface="IBM Plex Mono" pitchFamily="49" charset="-120"/>
              </a:rPr>
              <a:t>Examinate the performance of various model and try with and without BCM_GUN in the loop </a:t>
            </a:r>
            <a:endParaRPr lang="en-US" sz="1200" dirty="0"/>
          </a:p>
        </p:txBody>
      </p:sp>
      <p:sp>
        <p:nvSpPr>
          <p:cNvPr id="8" name="Text 6"/>
          <p:cNvSpPr/>
          <p:nvPr/>
        </p:nvSpPr>
        <p:spPr>
          <a:xfrm>
            <a:off x="870458" y="3219450"/>
            <a:ext cx="5613000" cy="2260600"/>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Compare a linear model, a tree ensemble and a neural network</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Show what drives each model</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Cross-run: train on one run, test on another</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Report how much the metrics change with different past history</a:t>
            </a:r>
            <a:endParaRPr lang="en-US" sz="1600" dirty="0"/>
          </a:p>
        </p:txBody>
      </p:sp>
      <p:sp>
        <p:nvSpPr>
          <p:cNvPr id="9" name="Shape 7"/>
          <p:cNvSpPr/>
          <p:nvPr/>
        </p:nvSpPr>
        <p:spPr>
          <a:xfrm>
            <a:off x="6630491" y="2006600"/>
            <a:ext cx="4748709" cy="3448050"/>
          </a:xfrm>
          <a:prstGeom prst="roundRect">
            <a:avLst>
              <a:gd name="adj" fmla="val 2947"/>
            </a:avLst>
          </a:prstGeom>
          <a:solidFill>
            <a:srgbClr val="DBE7FF"/>
          </a:solidFill>
          <a:ln/>
        </p:spPr>
        <p:txBody>
          <a:bodyPr/>
          <a:lstStyle/>
          <a:p>
            <a:endParaRPr lang="en-US"/>
          </a:p>
        </p:txBody>
      </p:sp>
      <p:sp>
        <p:nvSpPr>
          <p:cNvPr id="10" name="Shape 8"/>
          <p:cNvSpPr/>
          <p:nvPr/>
        </p:nvSpPr>
        <p:spPr>
          <a:xfrm>
            <a:off x="6630491" y="2006600"/>
            <a:ext cx="4748709" cy="3448050"/>
          </a:xfrm>
          <a:custGeom>
            <a:avLst/>
            <a:gdLst/>
            <a:ahLst/>
            <a:cxnLst/>
            <a:rect l="l" t="t" r="r" b="b"/>
            <a:pathLst>
              <a:path w="4748709" h="3448050">
                <a:moveTo>
                  <a:pt x="0" y="101600"/>
                </a:moveTo>
                <a:lnTo>
                  <a:pt x="0" y="101600"/>
                </a:lnTo>
                <a:arcTo wR="101600" hR="101600" stAng="10800000" swAng="5400000"/>
                <a:lnTo>
                  <a:pt x="4647109" y="0"/>
                </a:lnTo>
                <a:arcTo wR="101600" hR="101600" stAng="16200000" swAng="5400000"/>
                <a:lnTo>
                  <a:pt x="4748709" y="101600"/>
                </a:lnTo>
                <a:arcTo wR="101600" hR="50800" stAng="0" swAng="-5400000"/>
                <a:lnTo>
                  <a:pt x="101600" y="50800"/>
                </a:lnTo>
                <a:arcTo wR="101600" hR="50800" stAng="16200000" swAng="-5400000"/>
                <a:close/>
              </a:path>
            </a:pathLst>
          </a:custGeom>
          <a:solidFill>
            <a:srgbClr val="1D4ED8"/>
          </a:solidFill>
          <a:ln/>
        </p:spPr>
        <p:txBody>
          <a:bodyPr/>
          <a:lstStyle/>
          <a:p>
            <a:endParaRPr lang="en-US"/>
          </a:p>
        </p:txBody>
      </p:sp>
      <p:sp>
        <p:nvSpPr>
          <p:cNvPr id="11" name="Text 9"/>
          <p:cNvSpPr/>
          <p:nvPr/>
        </p:nvSpPr>
        <p:spPr>
          <a:xfrm>
            <a:off x="6884491" y="2311400"/>
            <a:ext cx="436793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D4ED8"/>
                </a:solidFill>
                <a:latin typeface="IBM Plex Mono" pitchFamily="49" charset="0"/>
                <a:ea typeface="IBM Plex Mono" pitchFamily="49" charset="-122"/>
                <a:cs typeface="IBM Plex Mono" pitchFamily="49" charset="-120"/>
              </a:rPr>
              <a:t>THE GOAL</a:t>
            </a:r>
            <a:endParaRPr lang="en-US" sz="1200" dirty="0"/>
          </a:p>
        </p:txBody>
      </p:sp>
      <p:sp>
        <p:nvSpPr>
          <p:cNvPr id="12" name="Text 10"/>
          <p:cNvSpPr/>
          <p:nvPr/>
        </p:nvSpPr>
        <p:spPr>
          <a:xfrm>
            <a:off x="6884491" y="2647950"/>
            <a:ext cx="4367930" cy="1913890"/>
          </a:xfrm>
          <a:prstGeom prst="rect">
            <a:avLst/>
          </a:prstGeom>
          <a:noFill/>
          <a:ln/>
        </p:spPr>
        <p:txBody>
          <a:bodyPr wrap="square" lIns="0" tIns="0" rIns="0" bIns="0" rtlCol="0" anchor="t">
            <a:normAutofit/>
          </a:bodyPr>
          <a:lstStyle/>
          <a:p>
            <a:pPr marL="342900" indent="-342900" algn="l">
              <a:lnSpc>
                <a:spcPts val="2240"/>
              </a:lnSpc>
              <a:buFont typeface="+mj-lt"/>
              <a:buAutoNum type="arabicPeriod"/>
            </a:pPr>
            <a:r>
              <a:rPr lang="en-US" sz="1600" dirty="0">
                <a:solidFill>
                  <a:srgbClr val="14213D"/>
                </a:solidFill>
                <a:latin typeface="IBM Plex Sans" pitchFamily="34" charset="0"/>
                <a:ea typeface="IBM Plex Sans" pitchFamily="34" charset="-122"/>
                <a:cs typeface="IBM Plex Sans" pitchFamily="34" charset="-120"/>
              </a:rPr>
              <a:t>Obtain good performance in the virtual diagnostic fashion.</a:t>
            </a:r>
          </a:p>
          <a:p>
            <a:pPr marL="342900" indent="-342900" algn="l">
              <a:lnSpc>
                <a:spcPts val="2240"/>
              </a:lnSpc>
              <a:buFont typeface="+mj-lt"/>
              <a:buAutoNum type="arabicPeriod"/>
            </a:pPr>
            <a:r>
              <a:rPr lang="en-US" sz="1600" dirty="0">
                <a:solidFill>
                  <a:srgbClr val="14213D"/>
                </a:solidFill>
                <a:latin typeface="IBM Plex Sans" pitchFamily="34" charset="0"/>
                <a:ea typeface="IBM Plex Sans" pitchFamily="34" charset="-122"/>
                <a:cs typeface="IBM Plex Sans" pitchFamily="34" charset="-120"/>
              </a:rPr>
              <a:t>Identify the right metric and try some basic model (</a:t>
            </a:r>
            <a:r>
              <a:rPr lang="en-US" sz="1600" dirty="0" err="1">
                <a:solidFill>
                  <a:srgbClr val="14213D"/>
                </a:solidFill>
                <a:latin typeface="IBM Plex Sans" pitchFamily="34" charset="0"/>
                <a:ea typeface="IBM Plex Sans" pitchFamily="34" charset="-122"/>
                <a:cs typeface="IBM Plex Sans" pitchFamily="34" charset="-120"/>
              </a:rPr>
              <a:t>ElasticNet</a:t>
            </a:r>
            <a:r>
              <a:rPr lang="en-US" sz="1600" dirty="0">
                <a:solidFill>
                  <a:srgbClr val="14213D"/>
                </a:solidFill>
                <a:latin typeface="IBM Plex Sans" pitchFamily="34" charset="0"/>
                <a:ea typeface="IBM Plex Sans" pitchFamily="34" charset="-122"/>
                <a:cs typeface="IBM Plex Sans" pitchFamily="34" charset="-120"/>
              </a:rPr>
              <a:t>, Random Forest, XGBoost and MLP).</a:t>
            </a:r>
            <a:endParaRPr lang="en-US" sz="1600" dirty="0"/>
          </a:p>
        </p:txBody>
      </p:sp>
      <p:sp>
        <p:nvSpPr>
          <p:cNvPr id="14" name="Text 12"/>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 </a:t>
            </a:r>
            <a:endParaRPr lang="en-US" sz="1200" dirty="0"/>
          </a:p>
        </p:txBody>
      </p:sp>
      <p:sp>
        <p:nvSpPr>
          <p:cNvPr id="15" name="Text 13"/>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Shape 1"/>
          <p:cNvSpPr/>
          <p:nvPr/>
        </p:nvSpPr>
        <p:spPr>
          <a:xfrm>
            <a:off x="812800" y="812800"/>
            <a:ext cx="1557040" cy="285750"/>
          </a:xfrm>
          <a:prstGeom prst="roundRect">
            <a:avLst>
              <a:gd name="adj" fmla="val 17778"/>
            </a:avLst>
          </a:prstGeom>
          <a:solidFill>
            <a:srgbClr val="BE185D"/>
          </a:solidFill>
          <a:ln/>
        </p:spPr>
        <p:txBody>
          <a:bodyPr/>
          <a:lstStyle/>
          <a:p>
            <a:endParaRPr lang="en-US"/>
          </a:p>
        </p:txBody>
      </p:sp>
      <p:sp>
        <p:nvSpPr>
          <p:cNvPr id="4" name="Text 2"/>
          <p:cNvSpPr/>
          <p:nvPr/>
        </p:nvSpPr>
        <p:spPr>
          <a:xfrm>
            <a:off x="914400" y="850900"/>
            <a:ext cx="140464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FDF7"/>
                </a:solidFill>
                <a:latin typeface="IBM Plex Mono" pitchFamily="49" charset="0"/>
                <a:ea typeface="IBM Plex Mono" pitchFamily="49" charset="-122"/>
                <a:cs typeface="IBM Plex Mono" pitchFamily="49" charset="-120"/>
              </a:rPr>
              <a:t>TIER 3 · HARD</a:t>
            </a:r>
            <a:endParaRPr lang="en-US" sz="1200" dirty="0"/>
          </a:p>
        </p:txBody>
      </p:sp>
      <p:sp>
        <p:nvSpPr>
          <p:cNvPr id="5" name="Text 3"/>
          <p:cNvSpPr>
            <a:spLocks noGrp="1"/>
          </p:cNvSpPr>
          <p:nvPr>
            <p:ph type="title"/>
          </p:nvPr>
        </p:nvSpPr>
        <p:spPr>
          <a:xfrm>
            <a:off x="812800" y="12001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Forecasting</a:t>
            </a:r>
            <a:endParaRPr lang="en-US" sz="3600" dirty="0"/>
          </a:p>
        </p:txBody>
      </p:sp>
      <p:sp>
        <p:nvSpPr>
          <p:cNvPr id="7" name="Text 5"/>
          <p:cNvSpPr/>
          <p:nvPr/>
        </p:nvSpPr>
        <p:spPr>
          <a:xfrm>
            <a:off x="815975" y="2295525"/>
            <a:ext cx="5506541" cy="717550"/>
          </a:xfrm>
          <a:prstGeom prst="roundRect">
            <a:avLst>
              <a:gd name="adj" fmla="val 10177"/>
            </a:avLst>
          </a:prstGeom>
          <a:solidFill>
            <a:srgbClr val="FFFDF8"/>
          </a:solidFill>
          <a:ln w="6350">
            <a:solidFill>
              <a:srgbClr val="E6E0D2"/>
            </a:solidFill>
            <a:prstDash val="solid"/>
          </a:ln>
        </p:spPr>
        <p:txBody>
          <a:bodyPr wrap="square" lIns="134187" tIns="108787" rIns="0" bIns="83387" rtlCol="0" anchor="t">
            <a:normAutofit/>
          </a:bodyPr>
          <a:lstStyle/>
          <a:p>
            <a:pPr marL="0" indent="0" algn="l">
              <a:lnSpc>
                <a:spcPts val="1800"/>
              </a:lnSpc>
              <a:buNone/>
            </a:pPr>
            <a:r>
              <a:rPr lang="en-US" sz="1200" dirty="0">
                <a:solidFill>
                  <a:srgbClr val="14213D"/>
                </a:solidFill>
                <a:latin typeface="IBM Plex Mono" pitchFamily="49" charset="0"/>
                <a:ea typeface="IBM Plex Mono" pitchFamily="49" charset="-122"/>
                <a:cs typeface="IBM Plex Mono" pitchFamily="49" charset="-120"/>
              </a:rPr>
              <a:t>Repeat what done for virtual diagnostic in a more complex scenario</a:t>
            </a:r>
            <a:endParaRPr lang="en-US" sz="1200" dirty="0"/>
          </a:p>
        </p:txBody>
      </p:sp>
      <p:sp>
        <p:nvSpPr>
          <p:cNvPr id="8" name="Text 6"/>
          <p:cNvSpPr/>
          <p:nvPr/>
        </p:nvSpPr>
        <p:spPr>
          <a:xfrm>
            <a:off x="870458" y="3219450"/>
            <a:ext cx="5613000" cy="1981200"/>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One step ahead, then up to 50 shots</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At least one sequence model: TFT, DeepAR, LSTM/GRU or a time-series foundation model</a:t>
            </a:r>
            <a:endParaRPr lang="en-US" sz="1600" dirty="0"/>
          </a:p>
          <a:p>
            <a:pPr marL="196342" indent="-196342" algn="l">
              <a:lnSpc>
                <a:spcPts val="2240"/>
              </a:lnSpc>
              <a:buSzPct val="100000"/>
              <a:buChar char="•"/>
            </a:pPr>
            <a:r>
              <a:rPr lang="en-US" sz="1600" dirty="0">
                <a:solidFill>
                  <a:srgbClr val="3B4660"/>
                </a:solidFill>
                <a:latin typeface="IBM Plex Sans" pitchFamily="34" charset="0"/>
                <a:ea typeface="IBM Plex Sans" pitchFamily="34" charset="-122"/>
                <a:cs typeface="IBM Plex Sans" pitchFamily="34" charset="-120"/>
              </a:rPr>
              <a:t>Tune the context window and show its effect</a:t>
            </a:r>
            <a:endParaRPr lang="en-US" sz="1600" dirty="0"/>
          </a:p>
        </p:txBody>
      </p:sp>
      <p:sp>
        <p:nvSpPr>
          <p:cNvPr id="9" name="Shape 7"/>
          <p:cNvSpPr/>
          <p:nvPr/>
        </p:nvSpPr>
        <p:spPr>
          <a:xfrm>
            <a:off x="6630491" y="2006600"/>
            <a:ext cx="4748709" cy="3168650"/>
          </a:xfrm>
          <a:prstGeom prst="roundRect">
            <a:avLst>
              <a:gd name="adj" fmla="val 3206"/>
            </a:avLst>
          </a:prstGeom>
          <a:solidFill>
            <a:srgbClr val="FDE2EF"/>
          </a:solidFill>
          <a:ln/>
        </p:spPr>
        <p:txBody>
          <a:bodyPr/>
          <a:lstStyle/>
          <a:p>
            <a:endParaRPr lang="en-US"/>
          </a:p>
        </p:txBody>
      </p:sp>
      <p:sp>
        <p:nvSpPr>
          <p:cNvPr id="10" name="Shape 8"/>
          <p:cNvSpPr/>
          <p:nvPr/>
        </p:nvSpPr>
        <p:spPr>
          <a:xfrm>
            <a:off x="6630491" y="2006600"/>
            <a:ext cx="4748709" cy="3168650"/>
          </a:xfrm>
          <a:custGeom>
            <a:avLst/>
            <a:gdLst/>
            <a:ahLst/>
            <a:cxnLst/>
            <a:rect l="l" t="t" r="r" b="b"/>
            <a:pathLst>
              <a:path w="4748709" h="3168650">
                <a:moveTo>
                  <a:pt x="0" y="101600"/>
                </a:moveTo>
                <a:lnTo>
                  <a:pt x="0" y="101600"/>
                </a:lnTo>
                <a:arcTo wR="101600" hR="101600" stAng="10800000" swAng="5400000"/>
                <a:lnTo>
                  <a:pt x="4647109" y="0"/>
                </a:lnTo>
                <a:arcTo wR="101600" hR="101600" stAng="16200000" swAng="5400000"/>
                <a:lnTo>
                  <a:pt x="4748709" y="101600"/>
                </a:lnTo>
                <a:arcTo wR="101600" hR="50800" stAng="0" swAng="-5400000"/>
                <a:lnTo>
                  <a:pt x="101600" y="50800"/>
                </a:lnTo>
                <a:arcTo wR="101600" hR="50800" stAng="16200000" swAng="-5400000"/>
                <a:close/>
              </a:path>
            </a:pathLst>
          </a:custGeom>
          <a:solidFill>
            <a:srgbClr val="BE185D"/>
          </a:solidFill>
          <a:ln/>
        </p:spPr>
        <p:txBody>
          <a:bodyPr/>
          <a:lstStyle/>
          <a:p>
            <a:endParaRPr lang="en-US"/>
          </a:p>
        </p:txBody>
      </p:sp>
      <p:sp>
        <p:nvSpPr>
          <p:cNvPr id="11" name="Text 9"/>
          <p:cNvSpPr/>
          <p:nvPr/>
        </p:nvSpPr>
        <p:spPr>
          <a:xfrm>
            <a:off x="6884491" y="2311400"/>
            <a:ext cx="4367930"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E185D"/>
                </a:solidFill>
                <a:latin typeface="IBM Plex Mono" pitchFamily="49" charset="0"/>
                <a:ea typeface="IBM Plex Mono" pitchFamily="49" charset="-122"/>
                <a:cs typeface="IBM Plex Mono" pitchFamily="49" charset="-120"/>
              </a:rPr>
              <a:t>THE GOAL</a:t>
            </a:r>
            <a:endParaRPr lang="en-US" sz="1200" dirty="0"/>
          </a:p>
        </p:txBody>
      </p:sp>
      <p:sp>
        <p:nvSpPr>
          <p:cNvPr id="12" name="Text 10"/>
          <p:cNvSpPr/>
          <p:nvPr/>
        </p:nvSpPr>
        <p:spPr>
          <a:xfrm>
            <a:off x="6913265" y="2647950"/>
            <a:ext cx="4331536" cy="1802130"/>
          </a:xfrm>
          <a:prstGeom prst="rect">
            <a:avLst/>
          </a:prstGeom>
          <a:noFill/>
          <a:ln/>
        </p:spPr>
        <p:txBody>
          <a:bodyPr wrap="square" lIns="0" tIns="0" rIns="0" bIns="0" rtlCol="0" anchor="t">
            <a:normAutofit/>
          </a:bodyPr>
          <a:lstStyle/>
          <a:p>
            <a:pPr marL="225227" indent="-225227">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Identify the right metric and try some basic model </a:t>
            </a:r>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Beat the rolling mean</a:t>
            </a:r>
          </a:p>
          <a:p>
            <a:pPr marL="225227" indent="-225227" algn="l">
              <a:lnSpc>
                <a:spcPts val="2240"/>
              </a:lnSpc>
              <a:buSzPct val="100000"/>
              <a:buFontTx/>
              <a:buAutoNum type="arabicPeriod"/>
            </a:pPr>
            <a:r>
              <a:rPr lang="en-US" sz="1600" dirty="0">
                <a:solidFill>
                  <a:srgbClr val="14213D"/>
                </a:solidFill>
                <a:latin typeface="IBM Plex Sans" pitchFamily="34" charset="0"/>
                <a:ea typeface="IBM Plex Sans" pitchFamily="34" charset="-122"/>
                <a:cs typeface="IBM Plex Sans" pitchFamily="34" charset="-120"/>
              </a:rPr>
              <a:t>Deploy in the machine the model </a:t>
            </a:r>
          </a:p>
        </p:txBody>
      </p:sp>
      <p:sp>
        <p:nvSpPr>
          <p:cNvPr id="14" name="Text 12"/>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15" name="Text 13"/>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SCORING</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Same rules for every team</a:t>
            </a:r>
            <a:endParaRPr lang="en-US" sz="3600" dirty="0"/>
          </a:p>
        </p:txBody>
      </p:sp>
      <p:sp>
        <p:nvSpPr>
          <p:cNvPr id="5" name="Shape 3"/>
          <p:cNvSpPr/>
          <p:nvPr/>
        </p:nvSpPr>
        <p:spPr>
          <a:xfrm>
            <a:off x="815975" y="1933575"/>
            <a:ext cx="3414117" cy="1689100"/>
          </a:xfrm>
          <a:prstGeom prst="roundRect">
            <a:avLst>
              <a:gd name="adj" fmla="val 5827"/>
            </a:avLst>
          </a:prstGeom>
          <a:solidFill>
            <a:srgbClr val="FFFDF8"/>
          </a:solidFill>
          <a:ln w="6350">
            <a:solidFill>
              <a:srgbClr val="E6E0D2"/>
            </a:solidFill>
            <a:prstDash val="solid"/>
          </a:ln>
        </p:spPr>
        <p:txBody>
          <a:bodyPr/>
          <a:lstStyle/>
          <a:p>
            <a:endParaRPr lang="en-US"/>
          </a:p>
        </p:txBody>
      </p:sp>
      <p:pic>
        <p:nvPicPr>
          <p:cNvPr id="6" name="Image 0" descr="Clock"/>
          <p:cNvPicPr>
            <a:picLocks noChangeAspect="1"/>
          </p:cNvPicPr>
          <p:nvPr/>
        </p:nvPicPr>
        <p:blipFill>
          <a:blip r:embed="rId3"/>
          <a:srcRect/>
          <a:stretch/>
        </p:blipFill>
        <p:spPr>
          <a:xfrm>
            <a:off x="1022350" y="2139950"/>
            <a:ext cx="254000" cy="254000"/>
          </a:xfrm>
          <a:prstGeom prst="rect">
            <a:avLst/>
          </a:prstGeom>
        </p:spPr>
      </p:pic>
      <p:sp>
        <p:nvSpPr>
          <p:cNvPr id="7" name="Text 4"/>
          <p:cNvSpPr/>
          <p:nvPr/>
        </p:nvSpPr>
        <p:spPr>
          <a:xfrm>
            <a:off x="1022350" y="247015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Chronological split</a:t>
            </a:r>
            <a:endParaRPr lang="en-US" sz="1600" dirty="0"/>
          </a:p>
        </p:txBody>
      </p:sp>
      <p:sp>
        <p:nvSpPr>
          <p:cNvPr id="8" name="Text 5"/>
          <p:cNvSpPr/>
          <p:nvPr/>
        </p:nvSpPr>
        <p:spPr>
          <a:xfrm>
            <a:off x="1022350" y="2787650"/>
            <a:ext cx="3091408"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Test on the last 10 % of each run. No shuffling; fit everything on the first 90 %.</a:t>
            </a:r>
            <a:endParaRPr lang="en-US" sz="1200" dirty="0"/>
          </a:p>
        </p:txBody>
      </p:sp>
      <p:sp>
        <p:nvSpPr>
          <p:cNvPr id="9" name="Shape 6"/>
          <p:cNvSpPr/>
          <p:nvPr/>
        </p:nvSpPr>
        <p:spPr>
          <a:xfrm>
            <a:off x="4388842" y="1933575"/>
            <a:ext cx="3414216" cy="1689100"/>
          </a:xfrm>
          <a:prstGeom prst="roundRect">
            <a:avLst>
              <a:gd name="adj" fmla="val 5827"/>
            </a:avLst>
          </a:prstGeom>
          <a:solidFill>
            <a:srgbClr val="FFFDF8"/>
          </a:solidFill>
          <a:ln w="6350">
            <a:solidFill>
              <a:srgbClr val="E6E0D2"/>
            </a:solidFill>
            <a:prstDash val="solid"/>
          </a:ln>
        </p:spPr>
        <p:txBody>
          <a:bodyPr/>
          <a:lstStyle/>
          <a:p>
            <a:endParaRPr lang="en-US"/>
          </a:p>
        </p:txBody>
      </p:sp>
      <p:pic>
        <p:nvPicPr>
          <p:cNvPr id="10" name="Image 1" descr="Chart"/>
          <p:cNvPicPr>
            <a:picLocks noChangeAspect="1"/>
          </p:cNvPicPr>
          <p:nvPr/>
        </p:nvPicPr>
        <p:blipFill>
          <a:blip r:embed="rId4"/>
          <a:srcRect/>
          <a:stretch/>
        </p:blipFill>
        <p:spPr>
          <a:xfrm>
            <a:off x="4595217" y="2139950"/>
            <a:ext cx="254000" cy="254000"/>
          </a:xfrm>
          <a:prstGeom prst="rect">
            <a:avLst/>
          </a:prstGeom>
        </p:spPr>
      </p:pic>
      <p:sp>
        <p:nvSpPr>
          <p:cNvPr id="11" name="Text 7"/>
          <p:cNvSpPr/>
          <p:nvPr/>
        </p:nvSpPr>
        <p:spPr>
          <a:xfrm>
            <a:off x="4595217" y="2470150"/>
            <a:ext cx="309151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Metric in nC</a:t>
            </a:r>
            <a:endParaRPr lang="en-US" sz="1600" dirty="0"/>
          </a:p>
        </p:txBody>
      </p:sp>
      <p:sp>
        <p:nvSpPr>
          <p:cNvPr id="12" name="Text 8"/>
          <p:cNvSpPr/>
          <p:nvPr/>
        </p:nvSpPr>
        <p:spPr>
          <a:xfrm>
            <a:off x="4595217" y="2787650"/>
            <a:ext cx="3091510"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Try different and understand their physical meaning.</a:t>
            </a:r>
            <a:endParaRPr lang="en-US" sz="1200" dirty="0"/>
          </a:p>
        </p:txBody>
      </p:sp>
      <p:sp>
        <p:nvSpPr>
          <p:cNvPr id="13" name="Shape 9"/>
          <p:cNvSpPr/>
          <p:nvPr/>
        </p:nvSpPr>
        <p:spPr>
          <a:xfrm>
            <a:off x="7961809" y="1933575"/>
            <a:ext cx="3414117" cy="1689100"/>
          </a:xfrm>
          <a:prstGeom prst="roundRect">
            <a:avLst>
              <a:gd name="adj" fmla="val 5827"/>
            </a:avLst>
          </a:prstGeom>
          <a:solidFill>
            <a:srgbClr val="FFFDF8"/>
          </a:solidFill>
          <a:ln w="6350">
            <a:solidFill>
              <a:srgbClr val="E6E0D2"/>
            </a:solidFill>
            <a:prstDash val="solid"/>
          </a:ln>
        </p:spPr>
        <p:txBody>
          <a:bodyPr/>
          <a:lstStyle/>
          <a:p>
            <a:endParaRPr lang="en-US"/>
          </a:p>
        </p:txBody>
      </p:sp>
      <p:pic>
        <p:nvPicPr>
          <p:cNvPr id="14" name="Image 2" descr="Warning"/>
          <p:cNvPicPr>
            <a:picLocks noChangeAspect="1"/>
          </p:cNvPicPr>
          <p:nvPr/>
        </p:nvPicPr>
        <p:blipFill>
          <a:blip r:embed="rId5"/>
          <a:srcRect/>
          <a:stretch/>
        </p:blipFill>
        <p:spPr>
          <a:xfrm>
            <a:off x="8168184" y="2139950"/>
            <a:ext cx="254000" cy="254000"/>
          </a:xfrm>
          <a:prstGeom prst="rect">
            <a:avLst/>
          </a:prstGeom>
        </p:spPr>
      </p:pic>
      <p:sp>
        <p:nvSpPr>
          <p:cNvPr id="15" name="Text 10"/>
          <p:cNvSpPr/>
          <p:nvPr/>
        </p:nvSpPr>
        <p:spPr>
          <a:xfrm>
            <a:off x="8168184" y="247015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Dropouts not scored</a:t>
            </a:r>
            <a:endParaRPr lang="en-US" sz="1600" dirty="0"/>
          </a:p>
        </p:txBody>
      </p:sp>
      <p:sp>
        <p:nvSpPr>
          <p:cNvPr id="16" name="Text 11"/>
          <p:cNvSpPr/>
          <p:nvPr/>
        </p:nvSpPr>
        <p:spPr>
          <a:xfrm>
            <a:off x="8168184" y="2787650"/>
            <a:ext cx="3091408"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Charge below 30 % of the local median. </a:t>
            </a:r>
            <a:endParaRPr lang="en-US" sz="1200" dirty="0"/>
          </a:p>
        </p:txBody>
      </p:sp>
      <p:sp>
        <p:nvSpPr>
          <p:cNvPr id="17" name="Shape 12"/>
          <p:cNvSpPr/>
          <p:nvPr/>
        </p:nvSpPr>
        <p:spPr>
          <a:xfrm>
            <a:off x="815975" y="3781425"/>
            <a:ext cx="3414117" cy="1479550"/>
          </a:xfrm>
          <a:prstGeom prst="roundRect">
            <a:avLst>
              <a:gd name="adj" fmla="val 6652"/>
            </a:avLst>
          </a:prstGeom>
          <a:solidFill>
            <a:srgbClr val="FFFDF8"/>
          </a:solidFill>
          <a:ln w="6350">
            <a:solidFill>
              <a:srgbClr val="E6E0D2"/>
            </a:solidFill>
            <a:prstDash val="solid"/>
          </a:ln>
        </p:spPr>
        <p:txBody>
          <a:bodyPr/>
          <a:lstStyle/>
          <a:p>
            <a:endParaRPr lang="en-US"/>
          </a:p>
        </p:txBody>
      </p:sp>
      <p:pic>
        <p:nvPicPr>
          <p:cNvPr id="18" name="Image 3" descr="Database"/>
          <p:cNvPicPr>
            <a:picLocks noChangeAspect="1"/>
          </p:cNvPicPr>
          <p:nvPr/>
        </p:nvPicPr>
        <p:blipFill>
          <a:blip r:embed="rId6"/>
          <a:srcRect/>
          <a:stretch/>
        </p:blipFill>
        <p:spPr>
          <a:xfrm>
            <a:off x="1022350" y="3987800"/>
            <a:ext cx="254000" cy="254000"/>
          </a:xfrm>
          <a:prstGeom prst="rect">
            <a:avLst/>
          </a:prstGeom>
        </p:spPr>
      </p:pic>
      <p:sp>
        <p:nvSpPr>
          <p:cNvPr id="19" name="Text 13"/>
          <p:cNvSpPr/>
          <p:nvPr/>
        </p:nvSpPr>
        <p:spPr>
          <a:xfrm>
            <a:off x="1022350" y="43180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Decomposition</a:t>
            </a:r>
            <a:endParaRPr lang="en-US" sz="1600" dirty="0"/>
          </a:p>
        </p:txBody>
      </p:sp>
      <p:sp>
        <p:nvSpPr>
          <p:cNvPr id="20" name="Text 14"/>
          <p:cNvSpPr/>
          <p:nvPr/>
        </p:nvSpPr>
        <p:spPr>
          <a:xfrm>
            <a:off x="1022350" y="4635500"/>
            <a:ext cx="3091408"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Careful in the approach to be sure to be leakless</a:t>
            </a:r>
            <a:endParaRPr lang="en-US" sz="1200" dirty="0"/>
          </a:p>
        </p:txBody>
      </p:sp>
      <p:sp>
        <p:nvSpPr>
          <p:cNvPr id="21" name="Shape 15"/>
          <p:cNvSpPr/>
          <p:nvPr/>
        </p:nvSpPr>
        <p:spPr>
          <a:xfrm>
            <a:off x="4388842" y="3781425"/>
            <a:ext cx="3414216" cy="1479550"/>
          </a:xfrm>
          <a:prstGeom prst="roundRect">
            <a:avLst>
              <a:gd name="adj" fmla="val 6652"/>
            </a:avLst>
          </a:prstGeom>
          <a:solidFill>
            <a:srgbClr val="FFFDF8"/>
          </a:solidFill>
          <a:ln w="6350">
            <a:solidFill>
              <a:srgbClr val="E6E0D2"/>
            </a:solidFill>
            <a:prstDash val="solid"/>
          </a:ln>
        </p:spPr>
        <p:txBody>
          <a:bodyPr/>
          <a:lstStyle/>
          <a:p>
            <a:endParaRPr lang="en-US"/>
          </a:p>
        </p:txBody>
      </p:sp>
      <p:pic>
        <p:nvPicPr>
          <p:cNvPr id="22" name="Image 4" descr="Activity"/>
          <p:cNvPicPr>
            <a:picLocks noChangeAspect="1"/>
          </p:cNvPicPr>
          <p:nvPr/>
        </p:nvPicPr>
        <p:blipFill>
          <a:blip r:embed="rId7"/>
          <a:srcRect/>
          <a:stretch/>
        </p:blipFill>
        <p:spPr>
          <a:xfrm>
            <a:off x="4595217" y="3987800"/>
            <a:ext cx="254000" cy="254000"/>
          </a:xfrm>
          <a:prstGeom prst="rect">
            <a:avLst/>
          </a:prstGeom>
        </p:spPr>
      </p:pic>
      <p:sp>
        <p:nvSpPr>
          <p:cNvPr id="23" name="Text 16"/>
          <p:cNvSpPr/>
          <p:nvPr/>
        </p:nvSpPr>
        <p:spPr>
          <a:xfrm>
            <a:off x="4595217" y="4318000"/>
            <a:ext cx="309151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Forecasts</a:t>
            </a:r>
            <a:endParaRPr lang="en-US" sz="1600" dirty="0"/>
          </a:p>
        </p:txBody>
      </p:sp>
      <p:sp>
        <p:nvSpPr>
          <p:cNvPr id="24" name="Text 17"/>
          <p:cNvSpPr/>
          <p:nvPr/>
        </p:nvSpPr>
        <p:spPr>
          <a:xfrm>
            <a:off x="4595217" y="4635500"/>
            <a:ext cx="3091510"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Complex problem try feature engineering </a:t>
            </a:r>
            <a:endParaRPr lang="en-US" sz="1200" dirty="0"/>
          </a:p>
        </p:txBody>
      </p:sp>
      <p:sp>
        <p:nvSpPr>
          <p:cNvPr id="25" name="Shape 18"/>
          <p:cNvSpPr/>
          <p:nvPr/>
        </p:nvSpPr>
        <p:spPr>
          <a:xfrm>
            <a:off x="7961809" y="3781425"/>
            <a:ext cx="3414117" cy="1479550"/>
          </a:xfrm>
          <a:prstGeom prst="roundRect">
            <a:avLst>
              <a:gd name="adj" fmla="val 6652"/>
            </a:avLst>
          </a:prstGeom>
          <a:solidFill>
            <a:srgbClr val="FFFDF8"/>
          </a:solidFill>
          <a:ln w="6350">
            <a:solidFill>
              <a:srgbClr val="E6E0D2"/>
            </a:solidFill>
            <a:prstDash val="solid"/>
          </a:ln>
        </p:spPr>
        <p:txBody>
          <a:bodyPr/>
          <a:lstStyle/>
          <a:p>
            <a:endParaRPr lang="en-US"/>
          </a:p>
        </p:txBody>
      </p:sp>
      <p:pic>
        <p:nvPicPr>
          <p:cNvPr id="26" name="Image 5" descr="Star"/>
          <p:cNvPicPr>
            <a:picLocks noChangeAspect="1"/>
          </p:cNvPicPr>
          <p:nvPr/>
        </p:nvPicPr>
        <p:blipFill>
          <a:blip r:embed="rId8"/>
          <a:srcRect/>
          <a:stretch/>
        </p:blipFill>
        <p:spPr>
          <a:xfrm>
            <a:off x="8168184" y="3987800"/>
            <a:ext cx="254000" cy="254000"/>
          </a:xfrm>
          <a:prstGeom prst="rect">
            <a:avLst/>
          </a:prstGeom>
        </p:spPr>
      </p:pic>
      <p:sp>
        <p:nvSpPr>
          <p:cNvPr id="27" name="Text 19"/>
          <p:cNvSpPr/>
          <p:nvPr/>
        </p:nvSpPr>
        <p:spPr>
          <a:xfrm>
            <a:off x="8168184" y="43180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Ranking</a:t>
            </a:r>
            <a:endParaRPr lang="en-US" sz="1600" dirty="0"/>
          </a:p>
        </p:txBody>
      </p:sp>
      <p:sp>
        <p:nvSpPr>
          <p:cNvPr id="28" name="Text 20"/>
          <p:cNvSpPr/>
          <p:nvPr/>
        </p:nvSpPr>
        <p:spPr>
          <a:xfrm>
            <a:off x="8168184" y="4635500"/>
            <a:ext cx="3091408"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4660"/>
                </a:solidFill>
                <a:latin typeface="IBM Plex Sans" pitchFamily="34" charset="0"/>
                <a:ea typeface="IBM Plex Sans" pitchFamily="34" charset="-122"/>
                <a:cs typeface="IBM Plex Sans" pitchFamily="34" charset="-120"/>
              </a:rPr>
              <a:t>Try different model and rank them by performance </a:t>
            </a:r>
            <a:endParaRPr lang="en-US" sz="1200" dirty="0"/>
          </a:p>
        </p:txBody>
      </p:sp>
      <p:sp>
        <p:nvSpPr>
          <p:cNvPr id="29" name="Text 21"/>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30"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12800" y="558800"/>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3" name="Text 1"/>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GETTING STARTED</a:t>
            </a:r>
            <a:endParaRPr lang="en-US" sz="1200" dirty="0"/>
          </a:p>
        </p:txBody>
      </p:sp>
      <p:sp>
        <p:nvSpPr>
          <p:cNvPr id="4" name="Text 2"/>
          <p:cNvSpPr>
            <a:spLocks noGrp="1"/>
          </p:cNvSpPr>
          <p:nvPr>
            <p:ph type="title"/>
          </p:nvPr>
        </p:nvSpPr>
        <p:spPr>
          <a:xfrm>
            <a:off x="812800" y="1123950"/>
            <a:ext cx="10883392" cy="52705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Build your own pipeline</a:t>
            </a:r>
            <a:endParaRPr lang="en-US" sz="3600" dirty="0"/>
          </a:p>
        </p:txBody>
      </p:sp>
      <p:sp>
        <p:nvSpPr>
          <p:cNvPr id="5" name="Text 3"/>
          <p:cNvSpPr/>
          <p:nvPr/>
        </p:nvSpPr>
        <p:spPr>
          <a:xfrm>
            <a:off x="812800" y="1879600"/>
            <a:ext cx="10883392"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kickoff notebook shows one way through the three tiers. Take it as an example, not a recipe: you are free, and encouraged, to develop your own analysis.</a:t>
            </a:r>
            <a:endParaRPr lang="en-US" sz="1600" dirty="0"/>
          </a:p>
        </p:txBody>
      </p:sp>
      <p:sp>
        <p:nvSpPr>
          <p:cNvPr id="6" name="Shape 4"/>
          <p:cNvSpPr/>
          <p:nvPr/>
        </p:nvSpPr>
        <p:spPr>
          <a:xfrm>
            <a:off x="812800" y="2692400"/>
            <a:ext cx="5181600" cy="2197100"/>
          </a:xfrm>
          <a:prstGeom prst="roundRect">
            <a:avLst>
              <a:gd name="adj" fmla="val 4624"/>
            </a:avLst>
          </a:prstGeom>
          <a:solidFill>
            <a:srgbClr val="DBE7FF"/>
          </a:solidFill>
          <a:ln/>
        </p:spPr>
        <p:txBody>
          <a:bodyPr/>
          <a:lstStyle/>
          <a:p>
            <a:endParaRPr lang="en-US"/>
          </a:p>
        </p:txBody>
      </p:sp>
      <p:sp>
        <p:nvSpPr>
          <p:cNvPr id="7" name="Shape 5"/>
          <p:cNvSpPr/>
          <p:nvPr/>
        </p:nvSpPr>
        <p:spPr>
          <a:xfrm>
            <a:off x="812800" y="2692400"/>
            <a:ext cx="5181600" cy="2197100"/>
          </a:xfrm>
          <a:custGeom>
            <a:avLst/>
            <a:gdLst/>
            <a:ahLst/>
            <a:cxnLst/>
            <a:rect l="l" t="t" r="r" b="b"/>
            <a:pathLst>
              <a:path w="5181600" h="21971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1D4ED8"/>
          </a:solidFill>
          <a:ln/>
        </p:spPr>
        <p:txBody>
          <a:bodyPr/>
          <a:lstStyle/>
          <a:p>
            <a:endParaRPr lang="en-US"/>
          </a:p>
        </p:txBody>
      </p:sp>
      <p:sp>
        <p:nvSpPr>
          <p:cNvPr id="8" name="Text 6"/>
          <p:cNvSpPr/>
          <p:nvPr/>
        </p:nvSpPr>
        <p:spPr>
          <a:xfrm>
            <a:off x="1016000" y="2946400"/>
            <a:ext cx="491845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4ED8"/>
                </a:solidFill>
                <a:latin typeface="Space Grotesk" pitchFamily="34" charset="0"/>
                <a:ea typeface="Space Grotesk" pitchFamily="34" charset="-122"/>
                <a:cs typeface="Space Grotesk" pitchFamily="34" charset="-120"/>
              </a:rPr>
              <a:t>Shown in the kickoff notebook</a:t>
            </a:r>
            <a:endParaRPr lang="en-US" sz="1600" dirty="0"/>
          </a:p>
        </p:txBody>
      </p:sp>
      <p:sp>
        <p:nvSpPr>
          <p:cNvPr id="9" name="Text 7"/>
          <p:cNvSpPr/>
          <p:nvPr/>
        </p:nvSpPr>
        <p:spPr>
          <a:xfrm>
            <a:off x="1073658" y="3289300"/>
            <a:ext cx="4853178" cy="1143000"/>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Reducing a run to one row per shot</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Quality checks, dropouts, synchronisation</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A first correlation study</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Baseline models for some tier</a:t>
            </a:r>
            <a:endParaRPr lang="en-US" sz="1600" dirty="0"/>
          </a:p>
        </p:txBody>
      </p:sp>
      <p:sp>
        <p:nvSpPr>
          <p:cNvPr id="10" name="Shape 8"/>
          <p:cNvSpPr/>
          <p:nvPr/>
        </p:nvSpPr>
        <p:spPr>
          <a:xfrm>
            <a:off x="6197600" y="2692400"/>
            <a:ext cx="5181600" cy="2197100"/>
          </a:xfrm>
          <a:prstGeom prst="roundRect">
            <a:avLst>
              <a:gd name="adj" fmla="val 4624"/>
            </a:avLst>
          </a:prstGeom>
          <a:solidFill>
            <a:srgbClr val="FDE2EF"/>
          </a:solidFill>
          <a:ln/>
        </p:spPr>
        <p:txBody>
          <a:bodyPr/>
          <a:lstStyle/>
          <a:p>
            <a:endParaRPr lang="en-US"/>
          </a:p>
        </p:txBody>
      </p:sp>
      <p:sp>
        <p:nvSpPr>
          <p:cNvPr id="11" name="Shape 9"/>
          <p:cNvSpPr/>
          <p:nvPr/>
        </p:nvSpPr>
        <p:spPr>
          <a:xfrm>
            <a:off x="6197600" y="2692400"/>
            <a:ext cx="5181600" cy="2197100"/>
          </a:xfrm>
          <a:custGeom>
            <a:avLst/>
            <a:gdLst/>
            <a:ahLst/>
            <a:cxnLst/>
            <a:rect l="l" t="t" r="r" b="b"/>
            <a:pathLst>
              <a:path w="5181600" h="21971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BE185D"/>
          </a:solidFill>
          <a:ln/>
        </p:spPr>
        <p:txBody>
          <a:bodyPr/>
          <a:lstStyle/>
          <a:p>
            <a:endParaRPr lang="en-US"/>
          </a:p>
        </p:txBody>
      </p:sp>
      <p:sp>
        <p:nvSpPr>
          <p:cNvPr id="12" name="Text 10"/>
          <p:cNvSpPr/>
          <p:nvPr/>
        </p:nvSpPr>
        <p:spPr>
          <a:xfrm>
            <a:off x="6400800" y="2946400"/>
            <a:ext cx="491845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E185D"/>
                </a:solidFill>
                <a:latin typeface="Space Grotesk" pitchFamily="34" charset="0"/>
                <a:ea typeface="Space Grotesk" pitchFamily="34" charset="-122"/>
                <a:cs typeface="Space Grotesk" pitchFamily="34" charset="-120"/>
              </a:rPr>
              <a:t>Up to you</a:t>
            </a:r>
            <a:endParaRPr lang="en-US" sz="1600" dirty="0"/>
          </a:p>
        </p:txBody>
      </p:sp>
      <p:sp>
        <p:nvSpPr>
          <p:cNvPr id="13" name="Text 11"/>
          <p:cNvSpPr/>
          <p:nvPr/>
        </p:nvSpPr>
        <p:spPr>
          <a:xfrm>
            <a:off x="6458458" y="3289300"/>
            <a:ext cx="4853178" cy="1422400"/>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Your own cleaning and synchronisation</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Your own features from waveforms and images</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Any model you can justify</a:t>
            </a:r>
            <a:endParaRPr lang="en-US" sz="1600" dirty="0"/>
          </a:p>
          <a:p>
            <a:pPr marL="196342" indent="-196342" algn="l">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Extras: frequency bands, uncertainty, closing the loop</a:t>
            </a:r>
            <a:endParaRPr lang="en-US" sz="1600" dirty="0"/>
          </a:p>
        </p:txBody>
      </p:sp>
      <p:sp>
        <p:nvSpPr>
          <p:cNvPr id="15" name="Text 13"/>
          <p:cNvSpPr/>
          <p:nvPr/>
        </p:nvSpPr>
        <p:spPr>
          <a:xfrm>
            <a:off x="812800" y="6242050"/>
            <a:ext cx="78486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Forecasting the CLEAR beam charge</a:t>
            </a:r>
            <a:endParaRPr lang="en-US" sz="1200" dirty="0"/>
          </a:p>
        </p:txBody>
      </p:sp>
      <p:sp>
        <p:nvSpPr>
          <p:cNvPr id="16" name="Text 14"/>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8D9"/>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1"/>
        </a:solidFill>
        <a:effectLst/>
      </p:bgPr>
    </p:bg>
    <p:spTree>
      <p:nvGrpSpPr>
        <p:cNvPr id="1" name=""/>
        <p:cNvGrpSpPr/>
        <p:nvPr/>
      </p:nvGrpSpPr>
      <p:grpSpPr>
        <a:xfrm>
          <a:off x="0" y="0"/>
          <a:ext cx="0" cy="0"/>
          <a:chOff x="0" y="0"/>
          <a:chExt cx="0" cy="0"/>
        </a:xfrm>
      </p:grpSpPr>
      <p:pic>
        <p:nvPicPr>
          <p:cNvPr id="2" name="Image 0" descr="On a blue-to-pink gradient panel, the charge trace from the title slide: past shots, then a dashed forecast with its uncertainty band"/>
          <p:cNvPicPr>
            <a:picLocks noChangeAspect="1"/>
          </p:cNvPicPr>
          <p:nvPr/>
        </p:nvPicPr>
        <p:blipFill>
          <a:blip r:embed="rId3"/>
          <a:srcRect t="-10" b="-10"/>
          <a:stretch/>
        </p:blipFill>
        <p:spPr>
          <a:xfrm>
            <a:off x="0" y="0"/>
            <a:ext cx="5715000" cy="6858000"/>
          </a:xfrm>
          <a:prstGeom prst="rect">
            <a:avLst/>
          </a:prstGeom>
        </p:spPr>
      </p:pic>
      <p:sp>
        <p:nvSpPr>
          <p:cNvPr id="3" name="Shape 0"/>
          <p:cNvSpPr/>
          <p:nvPr/>
        </p:nvSpPr>
        <p:spPr>
          <a:xfrm>
            <a:off x="6527800" y="1717675"/>
            <a:ext cx="609600" cy="50800"/>
          </a:xfrm>
          <a:prstGeom prst="roundRect">
            <a:avLst>
              <a:gd name="adj" fmla="val 50000"/>
            </a:avLst>
          </a:prstGeom>
          <a:gradFill rotWithShape="1">
            <a:gsLst>
              <a:gs pos="0">
                <a:srgbClr val="1D4ED8"/>
              </a:gs>
              <a:gs pos="50000">
                <a:srgbClr val="6D28D9"/>
              </a:gs>
              <a:gs pos="100000">
                <a:srgbClr val="DB2777"/>
              </a:gs>
            </a:gsLst>
            <a:lin ang="0" scaled="0"/>
          </a:gradFill>
          <a:ln/>
        </p:spPr>
        <p:txBody>
          <a:bodyPr/>
          <a:lstStyle/>
          <a:p>
            <a:endParaRPr lang="en-US"/>
          </a:p>
        </p:txBody>
      </p:sp>
      <p:sp>
        <p:nvSpPr>
          <p:cNvPr id="4" name="Text 1"/>
          <p:cNvSpPr/>
          <p:nvPr/>
        </p:nvSpPr>
        <p:spPr>
          <a:xfrm>
            <a:off x="6527800" y="1946275"/>
            <a:ext cx="4996942" cy="23495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D28D9"/>
                </a:solidFill>
                <a:latin typeface="IBM Plex Mono" pitchFamily="49" charset="0"/>
                <a:ea typeface="IBM Plex Mono" pitchFamily="49" charset="-122"/>
                <a:cs typeface="IBM Plex Mono" pitchFamily="49" charset="-120"/>
              </a:rPr>
              <a:t>THANK YOU</a:t>
            </a:r>
            <a:endParaRPr lang="en-US" sz="1200" dirty="0"/>
          </a:p>
        </p:txBody>
      </p:sp>
      <p:sp>
        <p:nvSpPr>
          <p:cNvPr id="5" name="Text 2"/>
          <p:cNvSpPr>
            <a:spLocks noGrp="1"/>
          </p:cNvSpPr>
          <p:nvPr>
            <p:ph type="title"/>
          </p:nvPr>
        </p:nvSpPr>
        <p:spPr>
          <a:xfrm>
            <a:off x="6527800" y="2333625"/>
            <a:ext cx="4996942" cy="129540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14213D"/>
                </a:solidFill>
                <a:latin typeface="Space Grotesk" pitchFamily="34" charset="0"/>
                <a:ea typeface="Space Grotesk" pitchFamily="34" charset="-122"/>
                <a:cs typeface="Space Grotesk" pitchFamily="34" charset="-120"/>
              </a:rPr>
              <a:t>Let's predict the </a:t>
            </a:r>
            <a:r>
              <a:rPr lang="en-US" sz="4800" b="1" i="0" dirty="0">
                <a:solidFill>
                  <a:srgbClr val="BE185D"/>
                </a:solidFill>
                <a:latin typeface="Space Grotesk" pitchFamily="34" charset="0"/>
                <a:ea typeface="Space Grotesk" pitchFamily="34" charset="-122"/>
                <a:cs typeface="Space Grotesk" pitchFamily="34" charset="-120"/>
              </a:rPr>
              <a:t>next shot</a:t>
            </a:r>
            <a:endParaRPr lang="en-US" sz="4800" dirty="0"/>
          </a:p>
        </p:txBody>
      </p:sp>
      <p:sp>
        <p:nvSpPr>
          <p:cNvPr id="6" name="Text 3"/>
          <p:cNvSpPr/>
          <p:nvPr/>
        </p:nvSpPr>
        <p:spPr>
          <a:xfrm>
            <a:off x="6527800" y="3781425"/>
            <a:ext cx="499694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660"/>
                </a:solidFill>
                <a:latin typeface="IBM Plex Sans" pitchFamily="34" charset="0"/>
                <a:ea typeface="IBM Plex Sans" pitchFamily="34" charset="-122"/>
                <a:cs typeface="IBM Plex Sans" pitchFamily="34" charset="-120"/>
              </a:rPr>
              <a:t>Questions now, or any time this week.</a:t>
            </a:r>
            <a:endParaRPr lang="en-US" sz="1600" dirty="0"/>
          </a:p>
        </p:txBody>
      </p:sp>
      <p:sp>
        <p:nvSpPr>
          <p:cNvPr id="7" name="Text 4"/>
          <p:cNvSpPr/>
          <p:nvPr/>
        </p:nvSpPr>
        <p:spPr>
          <a:xfrm>
            <a:off x="6527800" y="4238625"/>
            <a:ext cx="4996942"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Antonio Gilardi</a:t>
            </a:r>
            <a:endParaRPr lang="en-US" sz="1600" dirty="0"/>
          </a:p>
        </p:txBody>
      </p:sp>
      <p:sp>
        <p:nvSpPr>
          <p:cNvPr id="8" name="Text 5"/>
          <p:cNvSpPr/>
          <p:nvPr/>
        </p:nvSpPr>
        <p:spPr>
          <a:xfrm>
            <a:off x="6527800" y="4543425"/>
            <a:ext cx="499694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478"/>
                </a:solidFill>
                <a:latin typeface="IBM Plex Mono" pitchFamily="49" charset="0"/>
                <a:ea typeface="IBM Plex Mono" pitchFamily="49" charset="-122"/>
                <a:cs typeface="IBM Plex Mono" pitchFamily="49" charset="-120"/>
              </a:rPr>
              <a:t>antonio.gilardi@cern.ch</a:t>
            </a:r>
            <a:endParaRPr lang="en-US" sz="1200" dirty="0"/>
          </a:p>
        </p:txBody>
      </p:sp>
    </p:spTree>
  </p:cSld>
  <p:clrMapOvr>
    <a:masterClrMapping/>
  </p:clrMapOvr>
</p:sld>
</file>

<file path=ppt/theme/theme1.xml><?xml version="1.0" encoding="utf-8"?>
<a:theme xmlns:a="http://schemas.openxmlformats.org/drawingml/2006/main" name="Forecasting the CLEAR Beam Charge">
  <a:themeElements>
    <a:clrScheme name="Forecasting the CLEAR Beam Charge">
      <a:dk1>
        <a:srgbClr val="14213D"/>
      </a:dk1>
      <a:lt1>
        <a:srgbClr val="FBF8F1"/>
      </a:lt1>
      <a:dk2>
        <a:srgbClr val="4E576A"/>
      </a:dk2>
      <a:lt2>
        <a:srgbClr val="E4E3DF"/>
      </a:lt2>
      <a:accent1>
        <a:srgbClr val="6D28D9"/>
      </a:accent1>
      <a:accent2>
        <a:srgbClr val="1D4ED8"/>
      </a:accent2>
      <a:accent3>
        <a:srgbClr val="DB2777"/>
      </a:accent3>
      <a:accent4>
        <a:srgbClr val="BE185D"/>
      </a:accent4>
      <a:accent5>
        <a:srgbClr val="0F766E"/>
      </a:accent5>
      <a:accent6>
        <a:srgbClr val="C2410C"/>
      </a:accent6>
      <a:hlink>
        <a:srgbClr val="0563C1"/>
      </a:hlink>
      <a:folHlink>
        <a:srgbClr val="954F72"/>
      </a:folHlink>
    </a:clrScheme>
    <a:fontScheme name="Forecasting the CLEAR Beam Charg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2775</Words>
  <Application>Microsoft Macintosh PowerPoint</Application>
  <PresentationFormat>Widescreen</PresentationFormat>
  <Paragraphs>263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IBM Plex Mono</vt:lpstr>
      <vt:lpstr>IBM Plex Sans</vt:lpstr>
      <vt:lpstr>Space Grotesk</vt:lpstr>
      <vt:lpstr>Forecasting the CLEAR Beam Charge</vt:lpstr>
      <vt:lpstr>Forecasting the CLEAR beam charge</vt:lpstr>
      <vt:lpstr>Users need a stable charge</vt:lpstr>
      <vt:lpstr>CLEAR at a glance</vt:lpstr>
      <vt:lpstr>Where the charge is made</vt:lpstr>
      <vt:lpstr>Three steps, one question</vt:lpstr>
      <vt:lpstr>Studied, but still under development</vt:lpstr>
      <vt:lpstr>Beat the rolling mean.</vt:lpstr>
      <vt:lpstr>Many runs, many machine conditions</vt:lpstr>
      <vt:lpstr>23 parameters in six families</vt:lpstr>
      <vt:lpstr>Real machine data</vt:lpstr>
      <vt:lpstr>Understand and clean the data</vt:lpstr>
      <vt:lpstr>Virtual diagnostic</vt:lpstr>
      <vt:lpstr>Forecasting</vt:lpstr>
      <vt:lpstr>Same rules for every team</vt:lpstr>
      <vt:lpstr>Build your own pipeline</vt:lpstr>
      <vt:lpstr>Let's predict the next shot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the CLEAR Beam Charge</dc:title>
  <dc:subject/>
  <dc:creator/>
  <cp:lastModifiedBy>Antonio Gilardi</cp:lastModifiedBy>
  <cp:revision>12</cp:revision>
  <dcterms:created xsi:type="dcterms:W3CDTF">2026-10-11T10:46:20Z</dcterms:created>
  <dcterms:modified xsi:type="dcterms:W3CDTF">2026-10-11T17:11:38Z</dcterms:modified>
</cp:coreProperties>
</file>